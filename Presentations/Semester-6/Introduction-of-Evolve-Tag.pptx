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5"/>
  </p:notesMasterIdLst>
  <p:sldIdLst>
    <p:sldId id="256" r:id="rId2"/>
    <p:sldId id="281" r:id="rId3"/>
    <p:sldId id="282" r:id="rId4"/>
    <p:sldId id="283" r:id="rId5"/>
    <p:sldId id="276" r:id="rId6"/>
    <p:sldId id="284" r:id="rId7"/>
    <p:sldId id="285" r:id="rId8"/>
    <p:sldId id="286" r:id="rId9"/>
    <p:sldId id="287" r:id="rId10"/>
    <p:sldId id="260" r:id="rId11"/>
    <p:sldId id="262" r:id="rId12"/>
    <p:sldId id="278" r:id="rId13"/>
    <p:sldId id="280" r:id="rId14"/>
    <p:sldId id="279" r:id="rId15"/>
    <p:sldId id="289" r:id="rId16"/>
    <p:sldId id="290" r:id="rId17"/>
    <p:sldId id="291" r:id="rId18"/>
    <p:sldId id="268" r:id="rId19"/>
    <p:sldId id="269" r:id="rId20"/>
    <p:sldId id="270" r:id="rId21"/>
    <p:sldId id="294" r:id="rId22"/>
    <p:sldId id="295" r:id="rId23"/>
    <p:sldId id="296" r:id="rId24"/>
  </p:sldIdLst>
  <p:sldSz cx="9144000" cy="5143500" type="screen16x9"/>
  <p:notesSz cx="6858000" cy="9144000"/>
  <p:embeddedFontLst>
    <p:embeddedFont>
      <p:font typeface="Open Sans" panose="020B0606030504020204" pitchFamily="34" charset="0"/>
      <p:regular r:id="rId26"/>
      <p:bold r:id="rId27"/>
      <p:italic r:id="rId28"/>
      <p:boldItalic r:id="rId29"/>
    </p:embeddedFont>
    <p:embeddedFont>
      <p:font typeface="Sora"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97375BC-9B27-4CF9-A8F8-441F13DD376A}">
  <a:tblStyle styleId="{197375BC-9B27-4CF9-A8F8-441F13DD37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5DB909D-6D93-46FF-A101-601BB629E4E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87fa921f8d_0_1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BB008846-BFC9-DA92-543C-BCB66535EAA5}"/>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8238AD23-9FC0-1D69-920E-DADA606928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7D3A3956-34E9-23A0-683C-89D0E29258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782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EB3E321F-4312-F451-923E-323DC03DF420}"/>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8D090754-7C2F-C9C9-E544-7DB7A6F9DA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960794B7-CF59-26D1-AA01-15CE323EE2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694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DC1EEC30-9353-B885-AB5B-C561BE33094E}"/>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ECFDA80A-A92E-8D44-B7D9-198BFBFE2D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323FB474-4E1E-E05E-4830-A783808372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2298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86C3CB8C-6341-2168-62F3-5EA72EAE245E}"/>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34260910-E8E8-EE28-8457-2AE7059D08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1CCBB373-95BE-1835-BF70-431FEB7D0D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5990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A55146E9-604D-326A-1F62-1E29FC181867}"/>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CD99902A-E789-6124-10B1-EFE403B73D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4F5F70B-7D39-F936-A2A9-D11ACFAD3E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3079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46B77850-1DD5-F774-F914-B8F949A3E7CD}"/>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8AB3098D-9ABE-E725-CD57-9F2907EE9A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DB8ED03D-8A27-D095-9A18-720A8B51A6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9169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1C34CC09-6EDC-CCF6-5B32-76A6F17A2FCB}"/>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63C65CE7-F99A-1D31-E0B1-8E4C29B995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2095FD8E-75CF-D993-91CE-585FFC967B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770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E73552CB-D928-871A-F598-7D2E9B51DD24}"/>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6F488F7C-6862-9FB6-A57C-9D252B703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92C3E6D0-D0D6-F009-1CBF-6D3A692366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3238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E73552CB-D928-871A-F598-7D2E9B51DD24}"/>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6F488F7C-6862-9FB6-A57C-9D252B703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92C3E6D0-D0D6-F009-1CBF-6D3A692366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3238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E73552CB-D928-871A-F598-7D2E9B51DD24}"/>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6F488F7C-6862-9FB6-A57C-9D252B703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92C3E6D0-D0D6-F009-1CBF-6D3A692366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32385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5"/>
        <p:cNvGrpSpPr/>
        <p:nvPr/>
      </p:nvGrpSpPr>
      <p:grpSpPr>
        <a:xfrm>
          <a:off x="0" y="0"/>
          <a:ext cx="0" cy="0"/>
          <a:chOff x="0" y="0"/>
          <a:chExt cx="0" cy="0"/>
        </a:xfrm>
      </p:grpSpPr>
      <p:sp>
        <p:nvSpPr>
          <p:cNvPr id="1856" name="Google Shape;1856;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7" name="Google Shape;1857;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8" name="Google Shape;191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2"/>
        <p:cNvGrpSpPr/>
        <p:nvPr/>
      </p:nvGrpSpPr>
      <p:grpSpPr>
        <a:xfrm>
          <a:off x="0" y="0"/>
          <a:ext cx="0" cy="0"/>
          <a:chOff x="0" y="0"/>
          <a:chExt cx="0" cy="0"/>
        </a:xfrm>
      </p:grpSpPr>
      <p:sp>
        <p:nvSpPr>
          <p:cNvPr id="1953" name="Google Shape;1953;g15ec5a52cd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4" name="Google Shape;1954;g15ec5a52cd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264B1BE3-95A2-EEBD-83B5-BEC5DDC93D73}"/>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60DA0FA3-F6CB-A3DC-22DA-4277E5F823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0AB73E01-F5B0-6951-79D4-B27086DF92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39192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9C7E467A-E27A-3DF5-7F40-48A6DFB58143}"/>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5E578118-51A6-5BA5-869A-3BFB67DED9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79DD0772-C01E-FCC8-75EF-1A216C4FBC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8524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08E9D9B4-EF90-6FF9-ECD3-1409BA04C121}"/>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F970EC00-43C7-32F2-2C61-E21FA452FB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215877AB-A9B4-A937-8263-B6AFA2D2AF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012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 name="Google Shape;19;p2"/>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a:spLocks noGrp="1"/>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2"/>
        <p:cNvGrpSpPr/>
        <p:nvPr/>
      </p:nvGrpSpPr>
      <p:grpSpPr>
        <a:xfrm>
          <a:off x="0" y="0"/>
          <a:ext cx="0" cy="0"/>
          <a:chOff x="0" y="0"/>
          <a:chExt cx="0" cy="0"/>
        </a:xfrm>
      </p:grpSpPr>
      <p:sp>
        <p:nvSpPr>
          <p:cNvPr id="123" name="Google Shape;123;p13"/>
          <p:cNvSpPr txBox="1">
            <a:spLocks noGrp="1"/>
          </p:cNvSpPr>
          <p:nvPr>
            <p:ph type="title" hasCustomPrompt="1"/>
          </p:nvPr>
        </p:nvSpPr>
        <p:spPr>
          <a:xfrm>
            <a:off x="720000"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a:spLocks noGrp="1"/>
          </p:cNvSpPr>
          <p:nvPr>
            <p:ph type="title" idx="2" hasCustomPrompt="1"/>
          </p:nvPr>
        </p:nvSpPr>
        <p:spPr>
          <a:xfrm>
            <a:off x="720000"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a:spLocks noGrp="1"/>
          </p:cNvSpPr>
          <p:nvPr>
            <p:ph type="title" idx="3" hasCustomPrompt="1"/>
          </p:nvPr>
        </p:nvSpPr>
        <p:spPr>
          <a:xfrm>
            <a:off x="2709178"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a:spLocks noGrp="1"/>
          </p:cNvSpPr>
          <p:nvPr>
            <p:ph type="title" idx="4" hasCustomPrompt="1"/>
          </p:nvPr>
        </p:nvSpPr>
        <p:spPr>
          <a:xfrm>
            <a:off x="2709178"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a:spLocks noGrp="1"/>
          </p:cNvSpPr>
          <p:nvPr>
            <p:ph type="title" idx="5" hasCustomPrompt="1"/>
          </p:nvPr>
        </p:nvSpPr>
        <p:spPr>
          <a:xfrm>
            <a:off x="4698355"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a:spLocks noGrp="1"/>
          </p:cNvSpPr>
          <p:nvPr>
            <p:ph type="title" idx="6" hasCustomPrompt="1"/>
          </p:nvPr>
        </p:nvSpPr>
        <p:spPr>
          <a:xfrm>
            <a:off x="4698355"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subTitle" idx="1"/>
          </p:nvPr>
        </p:nvSpPr>
        <p:spPr>
          <a:xfrm>
            <a:off x="720000"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0" name="Google Shape;130;p13"/>
          <p:cNvSpPr txBox="1">
            <a:spLocks noGrp="1"/>
          </p:cNvSpPr>
          <p:nvPr>
            <p:ph type="subTitle" idx="7"/>
          </p:nvPr>
        </p:nvSpPr>
        <p:spPr>
          <a:xfrm>
            <a:off x="2709178"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1" name="Google Shape;131;p13"/>
          <p:cNvSpPr txBox="1">
            <a:spLocks noGrp="1"/>
          </p:cNvSpPr>
          <p:nvPr>
            <p:ph type="subTitle" idx="8"/>
          </p:nvPr>
        </p:nvSpPr>
        <p:spPr>
          <a:xfrm>
            <a:off x="4698355"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2" name="Google Shape;132;p13"/>
          <p:cNvSpPr txBox="1">
            <a:spLocks noGrp="1"/>
          </p:cNvSpPr>
          <p:nvPr>
            <p:ph type="subTitle" idx="9"/>
          </p:nvPr>
        </p:nvSpPr>
        <p:spPr>
          <a:xfrm>
            <a:off x="720000"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3" name="Google Shape;133;p13"/>
          <p:cNvSpPr txBox="1">
            <a:spLocks noGrp="1"/>
          </p:cNvSpPr>
          <p:nvPr>
            <p:ph type="subTitle" idx="13"/>
          </p:nvPr>
        </p:nvSpPr>
        <p:spPr>
          <a:xfrm>
            <a:off x="2709178"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4" name="Google Shape;134;p13"/>
          <p:cNvSpPr txBox="1">
            <a:spLocks noGrp="1"/>
          </p:cNvSpPr>
          <p:nvPr>
            <p:ph type="subTitle" idx="14"/>
          </p:nvPr>
        </p:nvSpPr>
        <p:spPr>
          <a:xfrm>
            <a:off x="4698355"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3758050" y="1937075"/>
            <a:ext cx="3233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7" name="Google Shape;147;p14"/>
          <p:cNvSpPr txBox="1">
            <a:spLocks noGrp="1"/>
          </p:cNvSpPr>
          <p:nvPr>
            <p:ph type="subTitle" idx="1"/>
          </p:nvPr>
        </p:nvSpPr>
        <p:spPr>
          <a:xfrm>
            <a:off x="3758050" y="2433575"/>
            <a:ext cx="3233100" cy="98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48" name="Google Shape;148;p14"/>
          <p:cNvGrpSpPr/>
          <p:nvPr/>
        </p:nvGrpSpPr>
        <p:grpSpPr>
          <a:xfrm>
            <a:off x="518850" y="392550"/>
            <a:ext cx="8106300" cy="43584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2" name="Google Shape;152;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6" name="Google Shape;156;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17072951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9"/>
        <p:cNvGrpSpPr/>
        <p:nvPr/>
      </p:nvGrpSpPr>
      <p:grpSpPr>
        <a:xfrm>
          <a:off x="0" y="0"/>
          <a:ext cx="0" cy="0"/>
          <a:chOff x="0" y="0"/>
          <a:chExt cx="0" cy="0"/>
        </a:xfrm>
      </p:grpSpPr>
      <p:grpSp>
        <p:nvGrpSpPr>
          <p:cNvPr id="60" name="Google Shape;60;p6"/>
          <p:cNvGrpSpPr/>
          <p:nvPr/>
        </p:nvGrpSpPr>
        <p:grpSpPr>
          <a:xfrm>
            <a:off x="518850" y="392550"/>
            <a:ext cx="8106300" cy="43584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4" name="Google Shape;64;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7" name="Google Shape;67;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8" name="Google Shape;68;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69" name="Google Shape;69;p6"/>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extLst>
      <p:ext uri="{BB962C8B-B14F-4D97-AF65-F5344CB8AC3E}">
        <p14:creationId xmlns:p14="http://schemas.microsoft.com/office/powerpoint/2010/main" val="3166789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8" r:id="rId7"/>
    <p:sldLayoutId id="2147483659" r:id="rId8"/>
    <p:sldLayoutId id="2147483661" r:id="rId9"/>
    <p:sldLayoutId id="2147483665" r:id="rId10"/>
    <p:sldLayoutId id="2147483666" r:id="rId11"/>
    <p:sldLayoutId id="2147483670" r:id="rId12"/>
    <p:sldLayoutId id="214748367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4"/>
          <p:cNvSpPr txBox="1">
            <a:spLocks noGrp="1"/>
          </p:cNvSpPr>
          <p:nvPr>
            <p:ph type="ctrTitle"/>
          </p:nvPr>
        </p:nvSpPr>
        <p:spPr>
          <a:xfrm>
            <a:off x="698357" y="1263646"/>
            <a:ext cx="4891669" cy="261620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dirty="0"/>
              <a:t>Evolutionary Optimization, Learning and Adaptive Systems </a:t>
            </a:r>
            <a:br>
              <a:rPr lang="en-US" sz="3200" dirty="0"/>
            </a:br>
            <a:r>
              <a:rPr lang="en-US" sz="3200" dirty="0"/>
              <a:t>(</a:t>
            </a:r>
            <a:r>
              <a:rPr lang="en-US" sz="3200" dirty="0" err="1"/>
              <a:t>EvOLve</a:t>
            </a:r>
            <a:r>
              <a:rPr lang="en-US" sz="3200" dirty="0"/>
              <a:t>)</a:t>
            </a:r>
            <a:endParaRPr sz="3200" dirty="0"/>
          </a:p>
        </p:txBody>
      </p:sp>
      <p:sp>
        <p:nvSpPr>
          <p:cNvPr id="711" name="Google Shape;711;p24"/>
          <p:cNvSpPr txBox="1">
            <a:spLocks noGrp="1"/>
          </p:cNvSpPr>
          <p:nvPr>
            <p:ph type="subTitle" idx="1"/>
          </p:nvPr>
        </p:nvSpPr>
        <p:spPr>
          <a:xfrm>
            <a:off x="698357" y="4173056"/>
            <a:ext cx="43701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Team - 99</a:t>
            </a:r>
            <a:endParaRPr b="1" dirty="0"/>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26"/>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072" name="Google Shape;1072;p26"/>
          <p:cNvSpPr txBox="1">
            <a:spLocks noGrp="1"/>
          </p:cNvSpPr>
          <p:nvPr>
            <p:ph type="title"/>
          </p:nvPr>
        </p:nvSpPr>
        <p:spPr>
          <a:xfrm>
            <a:off x="720000"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073" name="Google Shape;1073;p26"/>
          <p:cNvSpPr txBox="1">
            <a:spLocks noGrp="1"/>
          </p:cNvSpPr>
          <p:nvPr>
            <p:ph type="title" idx="2"/>
          </p:nvPr>
        </p:nvSpPr>
        <p:spPr>
          <a:xfrm>
            <a:off x="720000" y="306668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074" name="Google Shape;1074;p26"/>
          <p:cNvSpPr txBox="1">
            <a:spLocks noGrp="1"/>
          </p:cNvSpPr>
          <p:nvPr>
            <p:ph type="title" idx="3"/>
          </p:nvPr>
        </p:nvSpPr>
        <p:spPr>
          <a:xfrm>
            <a:off x="2861577" y="1420622"/>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1075" name="Google Shape;1075;p26"/>
          <p:cNvSpPr txBox="1">
            <a:spLocks noGrp="1"/>
          </p:cNvSpPr>
          <p:nvPr>
            <p:ph type="title" idx="4"/>
          </p:nvPr>
        </p:nvSpPr>
        <p:spPr>
          <a:xfrm>
            <a:off x="2709178" y="306668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076" name="Google Shape;1076;p26"/>
          <p:cNvSpPr txBox="1">
            <a:spLocks noGrp="1"/>
          </p:cNvSpPr>
          <p:nvPr>
            <p:ph type="title" idx="5"/>
          </p:nvPr>
        </p:nvSpPr>
        <p:spPr>
          <a:xfrm>
            <a:off x="4885416"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077" name="Google Shape;1077;p26"/>
          <p:cNvSpPr txBox="1">
            <a:spLocks noGrp="1"/>
          </p:cNvSpPr>
          <p:nvPr>
            <p:ph type="title" idx="6"/>
          </p:nvPr>
        </p:nvSpPr>
        <p:spPr>
          <a:xfrm>
            <a:off x="5025454" y="303482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sp>
        <p:nvSpPr>
          <p:cNvPr id="1078" name="Google Shape;1078;p26"/>
          <p:cNvSpPr txBox="1">
            <a:spLocks noGrp="1"/>
          </p:cNvSpPr>
          <p:nvPr>
            <p:ph type="subTitle" idx="1"/>
          </p:nvPr>
        </p:nvSpPr>
        <p:spPr>
          <a:xfrm>
            <a:off x="719999" y="1852268"/>
            <a:ext cx="1764967" cy="735000"/>
          </a:xfrm>
          <a:prstGeom prst="rect">
            <a:avLst/>
          </a:prstGeom>
        </p:spPr>
        <p:txBody>
          <a:bodyPr spcFirstLastPara="1" wrap="square" lIns="91425" tIns="91425" rIns="91425" bIns="91425" anchor="t" anchorCtr="0">
            <a:noAutofit/>
          </a:bodyPr>
          <a:lstStyle/>
          <a:p>
            <a:pPr marL="0" lvl="0" indent="0"/>
            <a:r>
              <a:rPr lang="en-US" dirty="0"/>
              <a:t>Basics of Optimization Problems</a:t>
            </a:r>
            <a:endParaRPr dirty="0"/>
          </a:p>
        </p:txBody>
      </p:sp>
      <p:sp>
        <p:nvSpPr>
          <p:cNvPr id="1079" name="Google Shape;1079;p26"/>
          <p:cNvSpPr txBox="1">
            <a:spLocks noGrp="1"/>
          </p:cNvSpPr>
          <p:nvPr>
            <p:ph type="subTitle" idx="7"/>
          </p:nvPr>
        </p:nvSpPr>
        <p:spPr>
          <a:xfrm>
            <a:off x="2769568" y="1852268"/>
            <a:ext cx="1764967" cy="735000"/>
          </a:xfrm>
          <a:prstGeom prst="rect">
            <a:avLst/>
          </a:prstGeom>
        </p:spPr>
        <p:txBody>
          <a:bodyPr spcFirstLastPara="1" wrap="square" lIns="91425" tIns="91425" rIns="91425" bIns="91425" anchor="t" anchorCtr="0">
            <a:noAutofit/>
          </a:bodyPr>
          <a:lstStyle/>
          <a:p>
            <a:pPr marL="0" lvl="0" indent="0"/>
            <a:r>
              <a:rPr lang="en-IN" dirty="0"/>
              <a:t>Optimisation Algorithms</a:t>
            </a:r>
            <a:endParaRPr dirty="0"/>
          </a:p>
        </p:txBody>
      </p:sp>
      <p:sp>
        <p:nvSpPr>
          <p:cNvPr id="1080" name="Google Shape;1080;p26"/>
          <p:cNvSpPr txBox="1">
            <a:spLocks noGrp="1"/>
          </p:cNvSpPr>
          <p:nvPr>
            <p:ph type="subTitle" idx="8"/>
          </p:nvPr>
        </p:nvSpPr>
        <p:spPr>
          <a:xfrm>
            <a:off x="4819138" y="1852268"/>
            <a:ext cx="1764966" cy="735000"/>
          </a:xfrm>
          <a:prstGeom prst="rect">
            <a:avLst/>
          </a:prstGeom>
        </p:spPr>
        <p:txBody>
          <a:bodyPr spcFirstLastPara="1" wrap="square" lIns="91425" tIns="91425" rIns="91425" bIns="91425" anchor="t" anchorCtr="0">
            <a:noAutofit/>
          </a:bodyPr>
          <a:lstStyle/>
          <a:p>
            <a:pPr marL="0" lvl="0" indent="0"/>
            <a:r>
              <a:rPr lang="en-IN" dirty="0"/>
              <a:t>Evolutionary Computing</a:t>
            </a:r>
            <a:endParaRPr dirty="0"/>
          </a:p>
        </p:txBody>
      </p:sp>
      <p:sp>
        <p:nvSpPr>
          <p:cNvPr id="1081" name="Google Shape;1081;p26"/>
          <p:cNvSpPr txBox="1">
            <a:spLocks noGrp="1"/>
          </p:cNvSpPr>
          <p:nvPr>
            <p:ph type="subTitle" idx="9"/>
          </p:nvPr>
        </p:nvSpPr>
        <p:spPr>
          <a:xfrm>
            <a:off x="720000" y="3514248"/>
            <a:ext cx="1908900" cy="735000"/>
          </a:xfrm>
          <a:prstGeom prst="rect">
            <a:avLst/>
          </a:prstGeom>
        </p:spPr>
        <p:txBody>
          <a:bodyPr spcFirstLastPara="1" wrap="square" lIns="91425" tIns="91425" rIns="91425" bIns="91425" anchor="t" anchorCtr="0">
            <a:noAutofit/>
          </a:bodyPr>
          <a:lstStyle/>
          <a:p>
            <a:pPr marL="0" lvl="0" indent="0"/>
            <a:r>
              <a:rPr lang="en-IN" dirty="0"/>
              <a:t>Evolutionary Algorithms</a:t>
            </a:r>
            <a:endParaRPr dirty="0"/>
          </a:p>
        </p:txBody>
      </p:sp>
      <p:sp>
        <p:nvSpPr>
          <p:cNvPr id="1082" name="Google Shape;1082;p26"/>
          <p:cNvSpPr txBox="1">
            <a:spLocks noGrp="1"/>
          </p:cNvSpPr>
          <p:nvPr>
            <p:ph type="subTitle" idx="13"/>
          </p:nvPr>
        </p:nvSpPr>
        <p:spPr>
          <a:xfrm>
            <a:off x="2709177" y="3514248"/>
            <a:ext cx="2557089" cy="735000"/>
          </a:xfrm>
          <a:prstGeom prst="rect">
            <a:avLst/>
          </a:prstGeom>
        </p:spPr>
        <p:txBody>
          <a:bodyPr spcFirstLastPara="1" wrap="square" lIns="91425" tIns="91425" rIns="91425" bIns="91425" anchor="t" anchorCtr="0">
            <a:noAutofit/>
          </a:bodyPr>
          <a:lstStyle/>
          <a:p>
            <a:pPr marL="0" lvl="0" indent="0"/>
            <a:r>
              <a:rPr lang="en-US" dirty="0"/>
              <a:t>How Evolutionary Algorithms Solve Optimization Problems</a:t>
            </a:r>
            <a:endParaRPr dirty="0"/>
          </a:p>
        </p:txBody>
      </p:sp>
      <p:sp>
        <p:nvSpPr>
          <p:cNvPr id="1083" name="Google Shape;1083;p26"/>
          <p:cNvSpPr txBox="1">
            <a:spLocks noGrp="1"/>
          </p:cNvSpPr>
          <p:nvPr>
            <p:ph type="subTitle" idx="14"/>
          </p:nvPr>
        </p:nvSpPr>
        <p:spPr>
          <a:xfrm>
            <a:off x="4990204" y="3514248"/>
            <a:ext cx="2020196"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Practical Uses of Evolutionary Algorithms</a:t>
            </a:r>
            <a:endParaRPr dirty="0"/>
          </a:p>
        </p:txBody>
      </p:sp>
      <p:grpSp>
        <p:nvGrpSpPr>
          <p:cNvPr id="1084" name="Google Shape;1084;p26"/>
          <p:cNvGrpSpPr/>
          <p:nvPr/>
        </p:nvGrpSpPr>
        <p:grpSpPr>
          <a:xfrm>
            <a:off x="6821296" y="936766"/>
            <a:ext cx="1986215" cy="3269968"/>
            <a:chOff x="6934075" y="1778325"/>
            <a:chExt cx="689275" cy="1134775"/>
          </a:xfrm>
        </p:grpSpPr>
        <p:sp>
          <p:nvSpPr>
            <p:cNvPr id="1085" name="Google Shape;1085;p26"/>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6"/>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6"/>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6"/>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6"/>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6"/>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6"/>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6"/>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6"/>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6"/>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6"/>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6"/>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6"/>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6"/>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6"/>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6"/>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6"/>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6"/>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6"/>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6"/>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6"/>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6"/>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6"/>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6"/>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6"/>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6"/>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6"/>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6"/>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6"/>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6"/>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6"/>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6"/>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6"/>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6"/>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6"/>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6"/>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6"/>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6"/>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6"/>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6"/>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6"/>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6"/>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6"/>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6"/>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6"/>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6"/>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6"/>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6"/>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6"/>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6"/>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6"/>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6"/>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6"/>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6"/>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6"/>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6"/>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6"/>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6"/>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6"/>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6"/>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6"/>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6"/>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6"/>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6"/>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6"/>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6"/>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6"/>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6"/>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6"/>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6"/>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6"/>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6"/>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6"/>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6"/>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6"/>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6"/>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6"/>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6"/>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6"/>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6"/>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6"/>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6"/>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6"/>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2183183"/>
            <a:ext cx="4300200" cy="841800"/>
          </a:xfrm>
          <a:prstGeom prst="rect">
            <a:avLst/>
          </a:prstGeom>
        </p:spPr>
        <p:txBody>
          <a:bodyPr spcFirstLastPara="1" wrap="square" lIns="91425" tIns="91425" rIns="91425" bIns="91425" anchor="t" anchorCtr="0">
            <a:noAutofit/>
          </a:bodyPr>
          <a:lstStyle/>
          <a:p>
            <a:pPr lvl="0"/>
            <a:r>
              <a:rPr lang="en-US" sz="4000" dirty="0"/>
              <a:t>Basics of Optimization Problems</a:t>
            </a:r>
            <a:endParaRPr sz="4000" dirty="0"/>
          </a:p>
        </p:txBody>
      </p:sp>
      <p:sp>
        <p:nvSpPr>
          <p:cNvPr id="1290" name="Google Shape;1290;p28"/>
          <p:cNvSpPr txBox="1">
            <a:spLocks noGrp="1"/>
          </p:cNvSpPr>
          <p:nvPr>
            <p:ph type="title" idx="2"/>
          </p:nvPr>
        </p:nvSpPr>
        <p:spPr>
          <a:xfrm>
            <a:off x="4130550" y="11575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27"/>
          <p:cNvSpPr txBox="1">
            <a:spLocks noGrp="1"/>
          </p:cNvSpPr>
          <p:nvPr>
            <p:ph type="subTitle" idx="1"/>
          </p:nvPr>
        </p:nvSpPr>
        <p:spPr>
          <a:xfrm>
            <a:off x="628556" y="931875"/>
            <a:ext cx="7469809" cy="19827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500" dirty="0"/>
              <a:t>An Optimization problem is a problem where we try to find the best possible solution as compared with that of the all-remaining solutions.</a:t>
            </a:r>
          </a:p>
          <a:p>
            <a:pPr marL="0" lvl="0" indent="0" algn="l" rtl="0">
              <a:spcBef>
                <a:spcPts val="0"/>
              </a:spcBef>
              <a:spcAft>
                <a:spcPts val="0"/>
              </a:spcAft>
            </a:pPr>
            <a:endParaRPr lang="en-US" sz="1500" dirty="0"/>
          </a:p>
          <a:p>
            <a:pPr marL="171450" lvl="0" indent="-171450" algn="l" rtl="0">
              <a:spcBef>
                <a:spcPts val="0"/>
              </a:spcBef>
              <a:spcAft>
                <a:spcPts val="0"/>
              </a:spcAft>
              <a:buFont typeface="Arial" panose="020B0604020202020204" pitchFamily="34" charset="0"/>
              <a:buChar char="•"/>
            </a:pPr>
            <a:r>
              <a:rPr lang="en-US" sz="1500" dirty="0"/>
              <a:t>The best solution depends on what we are trying to achieve , it may be minimization or maximization</a:t>
            </a:r>
          </a:p>
          <a:p>
            <a:pPr marL="0" lvl="0" indent="0" algn="l" rtl="0">
              <a:spcBef>
                <a:spcPts val="0"/>
              </a:spcBef>
              <a:spcAft>
                <a:spcPts val="0"/>
              </a:spcAft>
            </a:pPr>
            <a:endParaRPr lang="en-US" sz="1500" dirty="0"/>
          </a:p>
          <a:p>
            <a:pPr marL="171450" lvl="0" indent="-171450">
              <a:buFont typeface="Arial" panose="020B0604020202020204" pitchFamily="34" charset="0"/>
              <a:buChar char="•"/>
            </a:pPr>
            <a:r>
              <a:rPr lang="en-US" sz="1500" dirty="0"/>
              <a:t>Every optimization problem has a set of </a:t>
            </a:r>
            <a:r>
              <a:rPr lang="en-US" sz="1500" b="1" dirty="0"/>
              <a:t>decision variables</a:t>
            </a:r>
            <a:r>
              <a:rPr lang="en-US" sz="1500" dirty="0"/>
              <a:t>, which are the variables we are allowed to change, and an </a:t>
            </a:r>
            <a:r>
              <a:rPr lang="en-US" sz="1500" b="1" dirty="0"/>
              <a:t>objective function</a:t>
            </a:r>
            <a:r>
              <a:rPr lang="en-US" sz="1500" dirty="0"/>
              <a:t>, which measures how good a solution is. </a:t>
            </a:r>
          </a:p>
          <a:p>
            <a:pPr marL="0" lvl="0" indent="0"/>
            <a:endParaRPr lang="en-US" sz="1500" dirty="0"/>
          </a:p>
          <a:p>
            <a:pPr marL="171450" lvl="0" indent="-171450">
              <a:buFont typeface="Arial" panose="020B0604020202020204" pitchFamily="34" charset="0"/>
              <a:buChar char="•"/>
            </a:pPr>
            <a:r>
              <a:rPr lang="en-US" sz="1500" dirty="0"/>
              <a:t>The goal is to find the values of decision variables that give the best result while </a:t>
            </a:r>
            <a:r>
              <a:rPr lang="en-IN" sz="1500" dirty="0"/>
              <a:t>satisfying </a:t>
            </a:r>
            <a:r>
              <a:rPr lang="en-US" sz="1500" dirty="0"/>
              <a:t>the constraints. Without Optimization algorithms decision making would become unreliable and efficient </a:t>
            </a:r>
          </a:p>
          <a:p>
            <a:pPr marL="171450" lvl="0" indent="-171450">
              <a:buFont typeface="Arial" panose="020B0604020202020204" pitchFamily="34" charset="0"/>
              <a:buChar char="•"/>
            </a:pPr>
            <a:endParaRPr lang="en-US" sz="1500" dirty="0"/>
          </a:p>
          <a:p>
            <a:pPr marL="171450" indent="-171450">
              <a:buFont typeface="Arial" panose="020B0604020202020204" pitchFamily="34" charset="0"/>
              <a:buChar char="•"/>
            </a:pPr>
            <a:r>
              <a:rPr lang="en-US" sz="1500" dirty="0"/>
              <a:t>Instead of testing every option manually, </a:t>
            </a:r>
            <a:r>
              <a:rPr lang="en-US" sz="1500" dirty="0" err="1"/>
              <a:t>optimisation</a:t>
            </a:r>
            <a:r>
              <a:rPr lang="en-US" sz="1500" dirty="0"/>
              <a:t> algorithms help us reach the best solution quickly and systematically.</a:t>
            </a:r>
          </a:p>
          <a:p>
            <a:pPr marL="171450" lvl="0" indent="-171450">
              <a:buFont typeface="Arial" panose="020B0604020202020204" pitchFamily="34" charset="0"/>
              <a:buChar char="•"/>
            </a:pPr>
            <a:endParaRPr lang="en-US" sz="1500" dirty="0"/>
          </a:p>
          <a:p>
            <a:pPr marL="171450" lvl="0" indent="-171450" algn="l" rtl="0">
              <a:spcBef>
                <a:spcPts val="0"/>
              </a:spcBef>
              <a:spcAft>
                <a:spcPts val="0"/>
              </a:spcAft>
              <a:buFont typeface="Arial" panose="020B0604020202020204" pitchFamily="34" charset="0"/>
              <a:buChar char="•"/>
            </a:pPr>
            <a:endParaRPr sz="1500" dirty="0"/>
          </a:p>
        </p:txBody>
      </p:sp>
      <p:sp>
        <p:nvSpPr>
          <p:cNvPr id="1213" name="Google Shape;1213;p27"/>
          <p:cNvSpPr txBox="1">
            <a:spLocks noGrp="1"/>
          </p:cNvSpPr>
          <p:nvPr>
            <p:ph type="title"/>
          </p:nvPr>
        </p:nvSpPr>
        <p:spPr>
          <a:xfrm>
            <a:off x="754450" y="311671"/>
            <a:ext cx="6961808" cy="641100"/>
          </a:xfrm>
          <a:prstGeom prst="rect">
            <a:avLst/>
          </a:prstGeom>
        </p:spPr>
        <p:txBody>
          <a:bodyPr spcFirstLastPara="1" wrap="square" lIns="91425" tIns="91425" rIns="91425" bIns="91425" anchor="b" anchorCtr="0">
            <a:noAutofit/>
          </a:bodyPr>
          <a:lstStyle/>
          <a:p>
            <a:r>
              <a:rPr lang="en-US" sz="2400" dirty="0"/>
              <a:t>Basics of Optimization Problems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0DD2F9BF-2E76-9DEB-7839-E598842FB3C8}"/>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F9D9FFD9-FA6A-DD63-5A38-81DD821F53DF}"/>
              </a:ext>
            </a:extLst>
          </p:cNvPr>
          <p:cNvSpPr txBox="1">
            <a:spLocks noGrp="1"/>
          </p:cNvSpPr>
          <p:nvPr>
            <p:ph type="subTitle" idx="1"/>
          </p:nvPr>
        </p:nvSpPr>
        <p:spPr>
          <a:xfrm>
            <a:off x="605367" y="1091438"/>
            <a:ext cx="7775715" cy="3432963"/>
          </a:xfrm>
          <a:prstGeom prst="rect">
            <a:avLst/>
          </a:prstGeom>
        </p:spPr>
        <p:txBody>
          <a:bodyPr spcFirstLastPara="1" wrap="square" lIns="91425" tIns="91425" rIns="91425" bIns="91425" anchor="t" anchorCtr="0">
            <a:noAutofit/>
          </a:bodyPr>
          <a:lstStyle/>
          <a:p>
            <a:pPr marL="0" lvl="0" indent="0"/>
            <a:endParaRPr lang="en-US" sz="1600" dirty="0"/>
          </a:p>
          <a:p>
            <a:pPr marL="171450" lvl="0" indent="-171450">
              <a:buFont typeface="Arial" panose="020B0604020202020204" pitchFamily="34" charset="0"/>
              <a:buChar char="•"/>
            </a:pPr>
            <a:r>
              <a:rPr lang="en-US" sz="1600" dirty="0"/>
              <a:t>Optimization Problems Can Be Continuous or Discrete</a:t>
            </a:r>
          </a:p>
          <a:p>
            <a:pPr marL="628650" lvl="1" indent="-171450">
              <a:buFont typeface="Arial" panose="020B0604020202020204" pitchFamily="34" charset="0"/>
              <a:buChar char="•"/>
            </a:pPr>
            <a:r>
              <a:rPr lang="en-US" sz="1600" b="1" dirty="0"/>
              <a:t>Continuous optimization:</a:t>
            </a:r>
            <a:r>
              <a:rPr lang="en-US" sz="1600" dirty="0"/>
              <a:t> variables can take any real value</a:t>
            </a:r>
          </a:p>
          <a:p>
            <a:pPr marL="628650" lvl="1" indent="-171450">
              <a:buFont typeface="Arial" panose="020B0604020202020204" pitchFamily="34" charset="0"/>
              <a:buChar char="•"/>
            </a:pPr>
            <a:r>
              <a:rPr lang="en-US" sz="1600" b="1" dirty="0"/>
              <a:t>Discrete optimization:</a:t>
            </a:r>
            <a:r>
              <a:rPr lang="en-US" sz="1600" dirty="0"/>
              <a:t> variables take specific values </a:t>
            </a:r>
          </a:p>
          <a:p>
            <a:pPr marL="171450" lvl="0" indent="-171450">
              <a:buFont typeface="Arial" panose="020B0604020202020204" pitchFamily="34" charset="0"/>
              <a:buChar char="•"/>
            </a:pPr>
            <a:endParaRPr lang="en-US" sz="1600" dirty="0"/>
          </a:p>
          <a:p>
            <a:pPr marL="171450" lvl="0" indent="-171450">
              <a:buFont typeface="Arial" panose="020B0604020202020204" pitchFamily="34" charset="0"/>
              <a:buChar char="•"/>
            </a:pPr>
            <a:r>
              <a:rPr lang="en-US" sz="1600" dirty="0"/>
              <a:t>Optimization Problems Can Be Deterministic or Stochastic</a:t>
            </a:r>
          </a:p>
          <a:p>
            <a:pPr marL="628650" lvl="1" indent="-171450">
              <a:buFont typeface="Arial" panose="020B0604020202020204" pitchFamily="34" charset="0"/>
              <a:buChar char="•"/>
            </a:pPr>
            <a:r>
              <a:rPr lang="en-US" sz="1600" b="1" dirty="0"/>
              <a:t>Deterministic:</a:t>
            </a:r>
            <a:r>
              <a:rPr lang="en-US" sz="1600" dirty="0"/>
              <a:t> Everything is known and predictable.</a:t>
            </a:r>
          </a:p>
          <a:p>
            <a:pPr marL="628650" lvl="1" indent="-171450">
              <a:buFont typeface="Arial" panose="020B0604020202020204" pitchFamily="34" charset="0"/>
              <a:buChar char="•"/>
            </a:pPr>
            <a:r>
              <a:rPr lang="en-US" sz="1600" b="1" dirty="0"/>
              <a:t>Stochastic:</a:t>
            </a:r>
            <a:r>
              <a:rPr lang="en-US" sz="1600" dirty="0"/>
              <a:t> Involves uncertainty or randomness</a:t>
            </a:r>
          </a:p>
          <a:p>
            <a:pPr marL="457200" lvl="1" indent="0"/>
            <a:endParaRPr lang="en-US" sz="1600" dirty="0"/>
          </a:p>
          <a:p>
            <a:pPr marL="171450" lvl="0" indent="-171450">
              <a:buFont typeface="Arial" panose="020B0604020202020204" pitchFamily="34" charset="0"/>
              <a:buChar char="•"/>
            </a:pPr>
            <a:r>
              <a:rPr lang="en-US" sz="1600" dirty="0"/>
              <a:t>Optimization Problems Can Be Linear or Nonlinear</a:t>
            </a:r>
          </a:p>
          <a:p>
            <a:pPr marL="628650" lvl="1" indent="-171450">
              <a:buFont typeface="Arial" panose="020B0604020202020204" pitchFamily="34" charset="0"/>
              <a:buChar char="•"/>
            </a:pPr>
            <a:r>
              <a:rPr lang="en-US" sz="1600" b="1" dirty="0"/>
              <a:t>Linear</a:t>
            </a:r>
            <a:r>
              <a:rPr lang="en-US" sz="1600" dirty="0"/>
              <a:t> </a:t>
            </a:r>
            <a:r>
              <a:rPr lang="en-US" sz="1600" b="1" dirty="0"/>
              <a:t>optimization: </a:t>
            </a:r>
            <a:r>
              <a:rPr lang="en-US" sz="1600" dirty="0"/>
              <a:t>Straight line equations.</a:t>
            </a:r>
          </a:p>
          <a:p>
            <a:pPr marL="628650" lvl="1" indent="-171450">
              <a:buFont typeface="Arial" panose="020B0604020202020204" pitchFamily="34" charset="0"/>
              <a:buChar char="•"/>
            </a:pPr>
            <a:r>
              <a:rPr lang="en-US" sz="1600" b="1" dirty="0"/>
              <a:t>Nonlinear optimization:</a:t>
            </a:r>
            <a:r>
              <a:rPr lang="en-US" sz="1600" dirty="0"/>
              <a:t> More complex, curved, or irregular relationships.</a:t>
            </a:r>
          </a:p>
          <a:p>
            <a:pPr marL="457200" lvl="1" indent="0"/>
            <a:endParaRPr lang="en-US" sz="1600" dirty="0"/>
          </a:p>
        </p:txBody>
      </p:sp>
      <p:sp>
        <p:nvSpPr>
          <p:cNvPr id="1213" name="Google Shape;1213;p27">
            <a:extLst>
              <a:ext uri="{FF2B5EF4-FFF2-40B4-BE49-F238E27FC236}">
                <a16:creationId xmlns:a16="http://schemas.microsoft.com/office/drawing/2014/main" id="{470E6F37-B14C-D601-8D60-6EFD20E78290}"/>
              </a:ext>
            </a:extLst>
          </p:cNvPr>
          <p:cNvSpPr txBox="1">
            <a:spLocks noGrp="1"/>
          </p:cNvSpPr>
          <p:nvPr>
            <p:ph type="title"/>
          </p:nvPr>
        </p:nvSpPr>
        <p:spPr>
          <a:xfrm>
            <a:off x="762918" y="320137"/>
            <a:ext cx="6961808" cy="641100"/>
          </a:xfrm>
          <a:prstGeom prst="rect">
            <a:avLst/>
          </a:prstGeom>
        </p:spPr>
        <p:txBody>
          <a:bodyPr spcFirstLastPara="1" wrap="square" lIns="91425" tIns="91425" rIns="91425" bIns="91425" anchor="b" anchorCtr="0">
            <a:noAutofit/>
          </a:bodyPr>
          <a:lstStyle/>
          <a:p>
            <a:r>
              <a:rPr lang="en-US" sz="2400" dirty="0"/>
              <a:t>Basics of Optimization Problems</a:t>
            </a:r>
          </a:p>
        </p:txBody>
      </p:sp>
    </p:spTree>
    <p:extLst>
      <p:ext uri="{BB962C8B-B14F-4D97-AF65-F5344CB8AC3E}">
        <p14:creationId xmlns:p14="http://schemas.microsoft.com/office/powerpoint/2010/main" val="2404159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C51945D2-CACB-564E-7CAC-97E0CB349AAF}"/>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345A3747-F7B4-EF2C-FEC0-C305A4C9ACC2}"/>
              </a:ext>
            </a:extLst>
          </p:cNvPr>
          <p:cNvSpPr txBox="1">
            <a:spLocks noGrp="1"/>
          </p:cNvSpPr>
          <p:nvPr>
            <p:ph type="title"/>
          </p:nvPr>
        </p:nvSpPr>
        <p:spPr>
          <a:xfrm>
            <a:off x="4130550" y="2183183"/>
            <a:ext cx="4300200" cy="841800"/>
          </a:xfrm>
          <a:prstGeom prst="rect">
            <a:avLst/>
          </a:prstGeom>
        </p:spPr>
        <p:txBody>
          <a:bodyPr spcFirstLastPara="1" wrap="square" lIns="91425" tIns="91425" rIns="91425" bIns="91425" anchor="t" anchorCtr="0">
            <a:noAutofit/>
          </a:bodyPr>
          <a:lstStyle/>
          <a:p>
            <a:pPr lvl="0"/>
            <a:r>
              <a:rPr lang="en-US" sz="4000" dirty="0"/>
              <a:t>Optimization Algorithms</a:t>
            </a:r>
            <a:endParaRPr sz="4000" dirty="0"/>
          </a:p>
        </p:txBody>
      </p:sp>
      <p:sp>
        <p:nvSpPr>
          <p:cNvPr id="1290" name="Google Shape;1290;p28">
            <a:extLst>
              <a:ext uri="{FF2B5EF4-FFF2-40B4-BE49-F238E27FC236}">
                <a16:creationId xmlns:a16="http://schemas.microsoft.com/office/drawing/2014/main" id="{24116F50-13D9-A316-3D82-828C51E5E8B4}"/>
              </a:ext>
            </a:extLst>
          </p:cNvPr>
          <p:cNvSpPr txBox="1">
            <a:spLocks noGrp="1"/>
          </p:cNvSpPr>
          <p:nvPr>
            <p:ph type="title" idx="2"/>
          </p:nvPr>
        </p:nvSpPr>
        <p:spPr>
          <a:xfrm>
            <a:off x="4130550" y="11575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grpSp>
        <p:nvGrpSpPr>
          <p:cNvPr id="1291" name="Google Shape;1291;p28">
            <a:extLst>
              <a:ext uri="{FF2B5EF4-FFF2-40B4-BE49-F238E27FC236}">
                <a16:creationId xmlns:a16="http://schemas.microsoft.com/office/drawing/2014/main" id="{FC5799D6-7009-14C4-BDAC-BEB9F92C90A6}"/>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DA6D3764-4490-C4BC-A8E5-053785104855}"/>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A63569A0-79AB-9C5C-85A9-659411916263}"/>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F1A9FEB9-2E84-8C30-11E7-0F01ACE21E4B}"/>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52523677-7555-AA3F-B47E-7117825A384E}"/>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A05D93E1-2863-0621-FA40-AE3023840BC6}"/>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E16FEC2B-22C1-6229-8C33-92D3D1F49A78}"/>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C2ABF342-8E36-457C-4A2A-045C51B7E02B}"/>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BC2283D2-6EE8-D6D2-DE4D-2D1FDB140626}"/>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5C4FEAB4-1A21-1CF3-BFEA-56D0C920FA86}"/>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E6862604-242E-014B-9F14-9F5A332261A3}"/>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239F2F48-DBB8-237A-B03E-D8F5932EDF7F}"/>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4793C40F-3947-7AB9-3F89-469715A0C583}"/>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31980470-B111-DD19-F57F-E8A7C1A4A791}"/>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24DCEA79-3A77-F438-8CCA-898D5249ACBE}"/>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B85FD9A4-4A69-A369-272C-728887FF6798}"/>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9DA63189-BDEC-A852-C469-7B3FAED2AFCE}"/>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D6D6C5DC-E7F4-DB7E-E2C2-C3ED87E04006}"/>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EBF1BF3A-198E-2C72-3DF3-B6FBA0DC177F}"/>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A07648C0-951E-7999-AE4A-EEFF33FE374D}"/>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BE5013D9-DD2C-B69F-4299-6EDBB7C72B0B}"/>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06057DFB-3F29-E775-1E94-35EC1911E80B}"/>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3703883B-DF3E-ED9D-8731-EC0F4A3D882F}"/>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15B4323E-5B44-5F28-B202-655D960C8243}"/>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F2D297C0-B153-D227-1C30-973248ADB164}"/>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0B58B58C-45A2-A88D-60B4-11AEF27AC371}"/>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CF2787E2-C315-D50D-2037-E802E59958D0}"/>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86C045B8-5E95-F711-7046-62B0AA6B8786}"/>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A9D1B435-F2B0-562D-7D33-E8CE7285B6B9}"/>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823F988F-0E19-4E18-CF4E-092E8F578861}"/>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561318BC-3CB8-295F-82AB-0D5668580BC0}"/>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BA6F515F-23CC-17F2-9A1B-1D770E9EDB30}"/>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B47508E9-BCA6-73D2-BD53-DC7FDC156FCB}"/>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66FDCC14-6AA3-7A22-09A1-D7B0EA833FCC}"/>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880122DC-4794-07AC-503C-B57116CFC090}"/>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5D95AF34-CD11-3011-98DB-5C2E007717B7}"/>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56C1C6FF-D0F7-9707-9D15-7045AC8177FE}"/>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94E0B970-CAE5-6FE7-1DC6-DEA5273C6679}"/>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D02C38F0-BE35-E41A-4334-F14A75BC8284}"/>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FE1250B3-7598-A639-F753-D92C38AECBDF}"/>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9C05470A-28A9-28C7-036D-F303EE4A4127}"/>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F1E2E363-CCEC-265C-A1F4-4889A286094C}"/>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9E7D891E-E8DD-C1E8-84D3-1782B8201F38}"/>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F1C08160-39D1-AB62-C289-520AC0B534D0}"/>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97F14C34-2A2A-1A5B-D649-6586EA0A0E8A}"/>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2CFE6950-8C30-1968-83FB-5AC0B855E3BC}"/>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C7157129-362A-62AB-ED72-A8A5125C146D}"/>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2048C420-1557-ED75-DAAE-D4EBE7F847C3}"/>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69793BC6-9FF1-22FB-5099-E891A2C0249C}"/>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B7CD6DB8-8BCA-F4FF-26B7-D9C44EF7E608}"/>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6CD6D128-DA31-E2EA-3477-F641A56606DF}"/>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FD8482A0-B828-BD2D-334E-6B2BD72F707B}"/>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BA11F02F-F759-6469-0E1F-4DA09FBD3CC6}"/>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A688874D-4DE2-BD1D-1F8B-999C9C288D58}"/>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0D8D6FE4-F703-1218-812D-F48226FE197D}"/>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0D2530D7-22A7-B255-58E2-359C5A82AEBE}"/>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DB3F50EC-F713-9E36-760F-E45C42420FB1}"/>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0A740D2C-0172-A44B-D501-DD355AE6D07B}"/>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8C6A51E5-FFA7-934E-D014-F15E93B49689}"/>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FACE1EC8-16BB-DD72-20BA-578BE1CC0B53}"/>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0439AD62-F70D-D1CE-E105-82E6BFA92414}"/>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A578B7A1-A400-E84C-356A-43FBE4E648A6}"/>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B7E8DA37-8B9B-A1A9-69FF-97D6CF7EBFF3}"/>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DE46CB0C-49B0-F735-4B16-253C8BDD0DBA}"/>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6B6B3F3C-57B1-EF92-4C9E-6880247C3C44}"/>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3895D000-C9C8-119D-0E63-BCD1471D7B94}"/>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8AFB2BDE-A4AF-32C8-6554-3B78EA9F213B}"/>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83B9B3F5-F8C6-1294-F628-BE8BD6E26D0E}"/>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C266B3FE-997A-DE92-DD12-101059EE6FC4}"/>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0B96FFE1-6486-00B5-0D8A-70E6D9E4B535}"/>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8D45C10E-BA5A-1E32-EE57-3D1FD66BC7CA}"/>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4213BE22-D9D3-9E11-14D9-E39E178F25CC}"/>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0077DC4C-BD63-0B50-2B9E-85466D2A9E4D}"/>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75751A80-A8FE-E251-6886-A320C78BFF63}"/>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5D7D1DB8-C15F-3F6A-AD6D-02E9B4C73E46}"/>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40FA04A0-BFF3-1892-BEC1-99E8E32CFB35}"/>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5192B554-3973-2F0B-3AC7-358C5F07E323}"/>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09945AB5-FA7E-192B-D62C-41D6CFABA071}"/>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619C66DA-3BCC-9B05-2EEB-679616F7E383}"/>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FB19C5FE-CDA5-6471-0425-16B297CE3402}"/>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CFA14BF9-8B5D-EAFE-2781-5AE0473E46FA}"/>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A33A12D5-2D02-E47D-0FF3-45957BD615AF}"/>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3A8CB4FA-4098-30C1-E9DD-397CCEE6E30F}"/>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91A40C37-A35C-91FE-0CA2-7176B39CC25D}"/>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2C88CA14-81D2-069C-B37F-04364B9E2F8B}"/>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459254E2-554D-EC53-48C1-25C4A60C3996}"/>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637E145B-FC6B-A90A-DE5E-811152095B57}"/>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CB09A389-73F8-3BA1-4F2D-C27E5E2B1147}"/>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36CA7FB4-94C1-7D59-4520-DF9E4EF55983}"/>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460D5588-AD87-683A-A8D1-074CAF642C8E}"/>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C18C9040-17C4-6119-ABE5-A1BA1C6A5FDA}"/>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A2D3662F-FE4E-E8A3-3740-B913B841441B}"/>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EC68026A-1F48-1459-402B-2260EB7508EB}"/>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8F0ACB63-1DFD-AEBF-8F38-69536F8D8498}"/>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FF113950-4AF9-4505-3741-8A0AFB437D42}"/>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C6129098-6729-F88C-C99C-4189C19F0ABB}"/>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DA132C50-03A0-059B-7634-F13E1145C7F3}"/>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7ADF1F8E-B545-FDC9-44C1-537672C4BE57}"/>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3D1BEF0B-DF37-E0B4-21F4-5A05407868DB}"/>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19764AA5-80E3-541A-F521-1C5863A135D7}"/>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DC275054-6F25-1B7E-3C13-5CBFE4FB4C8D}"/>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E2FC6781-A970-B49C-BA9C-FDFB7B00951D}"/>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E0878454-A34C-A0E5-E25A-792065BDC03D}"/>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C062D07C-3C47-EDB5-E08F-EEE25D938133}"/>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40A9A8C2-029C-1667-4FF2-D48F235E0BB0}"/>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3375A579-1788-F34F-E2F0-467C912218D7}"/>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0727FD69-8730-8DB4-201D-D6CE0AAAFBBB}"/>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80BC160A-D35D-6F38-6E6F-4B1E2EB3CCFD}"/>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FD92766D-F2B0-7052-661C-1EF171C89A4D}"/>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252AE237-6A13-7FB4-7D5E-1A7D32C4CD4C}"/>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E82E496B-DC33-51CD-FD1B-8980C002C3AC}"/>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CEE944B2-F118-43E1-10AA-E9D9793CB6E8}"/>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C710BBB2-3EC6-3320-072B-DED8A97AACFF}"/>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E1AC3215-F9D8-2AFB-5E38-2D8CDA6CCE43}"/>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3CA2A4E8-8B08-D4FB-835B-9AB2CA0437D4}"/>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050CA710-32D1-6778-EA20-EE2FF699EE31}"/>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F7C8B220-D21F-17BC-82F0-BC6471F66B54}"/>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342F7F48-482B-5434-0E1D-4487066748EB}"/>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2A21FF2D-A87A-7F79-485E-41184223B1CD}"/>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B1EF2F53-2799-DDA5-CA3A-9348224B29DF}"/>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FD7745DE-21BF-5C98-CBCD-928C4DF033EC}"/>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72B34F71-AA8F-2F5D-2EB1-C421D046012B}"/>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86CC32DD-3636-AC67-C4BE-C387D0288E19}"/>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D3B51F34-0370-B3E7-8FB1-2DB9B7A82F70}"/>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4EB562B6-DCDE-DF3F-CA09-F710952CC766}"/>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E0E20548-B215-D389-3638-03325E3086E4}"/>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2063D3FF-B8FE-A153-222E-E15B7C057CCF}"/>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B409A46B-1D02-E625-AFE8-B17C09D333F4}"/>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D2DAFE0C-A12F-17CF-F7FE-03EA86933892}"/>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55DD8B6A-64E4-B6CF-D30A-673218261366}"/>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DB1044C2-EECC-BC01-1426-5AB1E3AC6324}"/>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9D1C0F3F-B992-A012-80F4-C44B3EF1B4DF}"/>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F5EB9C0E-13FC-6AA7-D709-A6CE386588BB}"/>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D9BD54CE-A26C-CDB0-8035-31EC1584B8AE}"/>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CB06216C-B674-F99A-85CD-E13B88E8F6EC}"/>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0E873BDC-CA0C-2ACE-F808-F1D99CC48BD3}"/>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0158B65B-D241-AC6F-19D5-1F5659C26F6F}"/>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8FB700A3-5025-93B0-6268-407C86AF99AD}"/>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DE933DA9-F388-38C1-8B9E-7600E49FD17C}"/>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2F94EA2B-6BDB-9247-09F8-0A9F300F926A}"/>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03BFB01E-BE21-2113-C68B-FCC43164E049}"/>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DA26E9D3-9945-52F3-64DC-4FF90950F9CD}"/>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4984F6BD-E98F-5094-CBBF-796DFCC4F3B3}"/>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5FC65ACD-3620-99BD-E3E9-FB8E8E694127}"/>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3BC220E4-72BD-B314-79C6-9B6070BD06A5}"/>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5DEA09CA-B656-6D13-ADA3-DE3A868EF938}"/>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1FEC1B99-8F1D-6B50-DBE7-EA775F673E6F}"/>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DDA757F1-4E1C-5B4C-49E1-17767D8E11E5}"/>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A41D8DD6-E735-F9FA-A2DA-BFD3F5768DF5}"/>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6DA6F20B-DFA2-95BA-B0EE-AD1FB66BC651}"/>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BDE09F9D-5765-B3E1-98B2-E95BF474A5FA}"/>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62419E6A-EED1-5D57-C4DA-E2949B1CAB76}"/>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323152AD-EF85-FFD9-43B2-04EEE1FC6C9C}"/>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F60BB3C7-70D8-7CF0-EF0F-EAD5BE0459C1}"/>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8F74D5AF-B2A9-222B-C907-963A99DE969A}"/>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62B82EAF-FEB7-0354-88BF-D1AA83F9EA43}"/>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8AA8CDC8-F1E1-EDA5-F5C5-77FA22F92469}"/>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6EAA020E-BA5E-28D6-CEEC-B902580D50BE}"/>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9A1717D2-FAF5-7EAC-6081-0565651DD8E3}"/>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7F0AA8F7-3233-D730-73FA-1A79FFD342FB}"/>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7ED5AD52-83FC-0EFB-34AA-816E71070090}"/>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1710231A-1AB7-A09E-33F6-34B64AB8B10C}"/>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1F6CFB3E-B29D-7165-427B-8375CE151E4B}"/>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40337A9A-A9BF-A858-42EC-35E683E09DCB}"/>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D1FB7262-F047-7608-DF89-48E520E687A1}"/>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A9B98292-FCE8-0781-F461-45BEFDC3FC7C}"/>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97333D5E-CA7D-B20B-3A25-FDC65AB21A80}"/>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2EA0F1A5-85C6-CF0A-F0E0-F67E18E079D1}"/>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E14D2221-4496-A8B3-933A-82C23F1539CE}"/>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309D4E4A-73E4-2F5F-CFEB-65923CE90112}"/>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36367889-BAC4-1EF2-5329-CCD022C59DC7}"/>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9F2C1371-F151-3925-862A-8AA5BAA1DCD8}"/>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AB425556-F8D2-E302-760E-7689A8B949D3}"/>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8588F324-DC7C-6AEA-F5FC-D7B7694CFE17}"/>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B5A78B1A-AB46-7379-425D-B2F81D0A07F1}"/>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C2342DA8-9F95-2169-EB7F-AD4E8C384444}"/>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3F9F0548-E570-9B5B-A4D9-8E44C177016C}"/>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0F13286B-D672-EFF2-B157-5A4D77968C24}"/>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50D783A5-62F6-FBE8-F109-7FFD38E7EC52}"/>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AE927478-5848-7F5D-C57D-67A295F09F2E}"/>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94CEAE99-B34F-1039-A85D-B580DB4B2B9F}"/>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C17E7EF8-BECF-968F-B104-6E6F15795410}"/>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E4D8B7EE-9823-3DEE-DC03-50112792BA3C}"/>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C1BF7125-CE2E-869E-BBAB-71C9566F4FB7}"/>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DB5493F9-40B1-0399-E600-7C0DF3965541}"/>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52008706-2A8D-7246-F8FB-E42337788A88}"/>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329480FC-17C1-4984-F20E-9F188043F523}"/>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2637B4D0-1F8E-90E3-48AE-5A684E0AAFFB}"/>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8F8EB966-2D25-333D-A6CE-5D0B0F7C54F1}"/>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308FDF91-A9E5-C619-551C-FEF1E6FACB57}"/>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DF3C5461-0ACA-CBCB-2326-531D774D03D3}"/>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8F00D9DB-B40D-8DD6-7136-067FFAB128E1}"/>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B465F40D-DFBB-65C1-EB1E-B0A8B96D540E}"/>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809496FA-8789-84D3-E24D-0AB90ADB371C}"/>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B313CEDA-84BD-6ADB-B262-5853E2FE3BFD}"/>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E658E177-49E2-035B-AEFC-7309E97C8CB4}"/>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D1E6204B-6E5B-DBB8-7A3C-2708DA0F8786}"/>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67F88EFB-AC6D-3DCF-483C-92AC022146A3}"/>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BF1C7195-81EB-30E5-0A26-380CC3F2EDD3}"/>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69101103-610E-D175-007D-718D9A59DD5C}"/>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61B545BD-7C84-896F-D9CA-4DEB0AC8C008}"/>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554CFBA6-FA17-9D1F-F45A-AE57B12BFED4}"/>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5CDD4D6E-E6C4-ECF2-E753-2F9ECFE492EF}"/>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ED30904D-76E3-D5B5-441A-65D98F8FC708}"/>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76656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336A9A4B-97C7-C0D4-3801-13D88A9E485D}"/>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6593D3FC-3213-A4EE-28FB-DDE55A1A62DB}"/>
              </a:ext>
            </a:extLst>
          </p:cNvPr>
          <p:cNvSpPr txBox="1">
            <a:spLocks noGrp="1"/>
          </p:cNvSpPr>
          <p:nvPr>
            <p:ph type="subTitle" idx="1"/>
          </p:nvPr>
        </p:nvSpPr>
        <p:spPr>
          <a:xfrm>
            <a:off x="635990" y="952771"/>
            <a:ext cx="7469809" cy="3640125"/>
          </a:xfrm>
          <a:prstGeom prst="rect">
            <a:avLst/>
          </a:prstGeom>
        </p:spPr>
        <p:txBody>
          <a:bodyPr spcFirstLastPara="1" wrap="square" lIns="91425" tIns="91425" rIns="91425" bIns="91425" anchor="t" anchorCtr="0">
            <a:noAutofit/>
          </a:bodyPr>
          <a:lstStyle/>
          <a:p>
            <a:r>
              <a:rPr lang="en-US" sz="1600" dirty="0"/>
              <a:t>Optimization algorithms fall into </a:t>
            </a:r>
            <a:r>
              <a:rPr lang="en-US" sz="1600" b="1" dirty="0"/>
              <a:t>three major families</a:t>
            </a:r>
            <a:r>
              <a:rPr lang="en-US" sz="1600" dirty="0"/>
              <a:t>, based on problem structure:</a:t>
            </a:r>
          </a:p>
          <a:p>
            <a:endParaRPr lang="en-US" sz="1600" dirty="0"/>
          </a:p>
          <a:p>
            <a:r>
              <a:rPr lang="en-US" sz="1600" b="1" dirty="0"/>
              <a:t>	1. Classical / Mathematical Optimization</a:t>
            </a:r>
          </a:p>
          <a:p>
            <a:r>
              <a:rPr lang="en-US" sz="1600" dirty="0"/>
              <a:t>		Works when problems are smooth, continuous, and well-defined.</a:t>
            </a:r>
          </a:p>
          <a:p>
            <a:endParaRPr lang="en-US" sz="1600" b="1" dirty="0"/>
          </a:p>
          <a:p>
            <a:r>
              <a:rPr lang="en-US" sz="1600" b="1" dirty="0"/>
              <a:t>	2. Heuristic &amp; Metaheuristic Algorithms</a:t>
            </a:r>
          </a:p>
          <a:p>
            <a:r>
              <a:rPr lang="en-US" sz="1600" dirty="0"/>
              <a:t>		Used when the search space is large, complex, or non-	differentiable.</a:t>
            </a:r>
          </a:p>
          <a:p>
            <a:endParaRPr lang="en-US" sz="1600" dirty="0"/>
          </a:p>
          <a:p>
            <a:r>
              <a:rPr lang="en-US" sz="1600" b="1" dirty="0"/>
              <a:t>	3. Evolutionary Algorithms (Subset of Metaheuristics)</a:t>
            </a:r>
          </a:p>
          <a:p>
            <a:r>
              <a:rPr lang="en-US" sz="1600" dirty="0"/>
              <a:t>		Population-based, biology-inspired methods for difficult 	optimization problems.</a:t>
            </a:r>
          </a:p>
          <a:p>
            <a:endParaRPr lang="en-US" sz="1600" dirty="0"/>
          </a:p>
          <a:p>
            <a:r>
              <a:rPr lang="en-US" sz="1600" dirty="0"/>
              <a:t>These categories help choose the right method for the right problem.</a:t>
            </a:r>
          </a:p>
        </p:txBody>
      </p:sp>
      <p:sp>
        <p:nvSpPr>
          <p:cNvPr id="1213" name="Google Shape;1213;p27">
            <a:extLst>
              <a:ext uri="{FF2B5EF4-FFF2-40B4-BE49-F238E27FC236}">
                <a16:creationId xmlns:a16="http://schemas.microsoft.com/office/drawing/2014/main" id="{317DB344-E7CB-ADFD-77A8-BD3FB6D53FE1}"/>
              </a:ext>
            </a:extLst>
          </p:cNvPr>
          <p:cNvSpPr txBox="1">
            <a:spLocks noGrp="1"/>
          </p:cNvSpPr>
          <p:nvPr>
            <p:ph type="title"/>
          </p:nvPr>
        </p:nvSpPr>
        <p:spPr>
          <a:xfrm>
            <a:off x="754450" y="311671"/>
            <a:ext cx="6961808" cy="641100"/>
          </a:xfrm>
          <a:prstGeom prst="rect">
            <a:avLst/>
          </a:prstGeom>
        </p:spPr>
        <p:txBody>
          <a:bodyPr spcFirstLastPara="1" wrap="square" lIns="91425" tIns="91425" rIns="91425" bIns="91425" anchor="b" anchorCtr="0">
            <a:noAutofit/>
          </a:bodyPr>
          <a:lstStyle/>
          <a:p>
            <a:r>
              <a:rPr lang="en-US" sz="2400" dirty="0"/>
              <a:t>Optimization Algorithms</a:t>
            </a:r>
          </a:p>
        </p:txBody>
      </p:sp>
    </p:spTree>
    <p:extLst>
      <p:ext uri="{BB962C8B-B14F-4D97-AF65-F5344CB8AC3E}">
        <p14:creationId xmlns:p14="http://schemas.microsoft.com/office/powerpoint/2010/main" val="1454696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2792220F-417E-4F1A-DA7B-D04A4A8D4880}"/>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4C64DC2C-AFBB-9A91-F00B-6692E90F3081}"/>
              </a:ext>
            </a:extLst>
          </p:cNvPr>
          <p:cNvSpPr txBox="1">
            <a:spLocks noGrp="1"/>
          </p:cNvSpPr>
          <p:nvPr>
            <p:ph type="subTitle" idx="1"/>
          </p:nvPr>
        </p:nvSpPr>
        <p:spPr>
          <a:xfrm>
            <a:off x="4809893" y="1085386"/>
            <a:ext cx="3850887" cy="2031325"/>
          </a:xfrm>
          <a:prstGeom prst="rect">
            <a:avLst/>
          </a:prstGeom>
        </p:spPr>
        <p:txBody>
          <a:bodyPr spcFirstLastPara="1" wrap="square" lIns="91425" tIns="91425" rIns="91425" bIns="91425" anchor="t" anchorCtr="0">
            <a:noAutofit/>
          </a:bodyPr>
          <a:lstStyle/>
          <a:p>
            <a:r>
              <a:rPr lang="en-IN" sz="1400" b="1" dirty="0"/>
              <a:t>Linear &amp; Nonlinear Programming</a:t>
            </a:r>
          </a:p>
          <a:p>
            <a:pPr marL="323850" indent="-171450">
              <a:buFont typeface="Arial" panose="020B0604020202020204" pitchFamily="34" charset="0"/>
              <a:buChar char="•"/>
            </a:pPr>
            <a:r>
              <a:rPr lang="en-IN" sz="1400" b="1" dirty="0"/>
              <a:t>Linear Programming (LP):</a:t>
            </a:r>
            <a:r>
              <a:rPr lang="en-IN" sz="1400" dirty="0"/>
              <a:t> Simplex, Interior-Point</a:t>
            </a:r>
          </a:p>
          <a:p>
            <a:pPr marL="323850" indent="-171450">
              <a:buFont typeface="Arial" panose="020B0604020202020204" pitchFamily="34" charset="0"/>
              <a:buChar char="•"/>
            </a:pPr>
            <a:r>
              <a:rPr lang="en-IN" sz="1400" b="1" dirty="0"/>
              <a:t>Nonlinear Programming (NLP):</a:t>
            </a:r>
            <a:r>
              <a:rPr lang="en-IN" sz="1400" dirty="0"/>
              <a:t> SQP, Trust-Region</a:t>
            </a:r>
          </a:p>
          <a:p>
            <a:pPr marL="323850" indent="-171450">
              <a:buFont typeface="Arial" panose="020B0604020202020204" pitchFamily="34" charset="0"/>
              <a:buChar char="•"/>
            </a:pPr>
            <a:r>
              <a:rPr lang="en-IN" sz="1400" b="1" dirty="0"/>
              <a:t>Best for:</a:t>
            </a:r>
            <a:br>
              <a:rPr lang="en-IN" sz="1400" dirty="0"/>
            </a:br>
            <a:r>
              <a:rPr lang="en-IN" sz="1400" dirty="0"/>
              <a:t>Resource allocation, supply chain optimization, production planning.</a:t>
            </a:r>
          </a:p>
        </p:txBody>
      </p:sp>
      <p:sp>
        <p:nvSpPr>
          <p:cNvPr id="1213" name="Google Shape;1213;p27">
            <a:extLst>
              <a:ext uri="{FF2B5EF4-FFF2-40B4-BE49-F238E27FC236}">
                <a16:creationId xmlns:a16="http://schemas.microsoft.com/office/drawing/2014/main" id="{165FD5DD-FD57-15FE-FB58-363EE19EB426}"/>
              </a:ext>
            </a:extLst>
          </p:cNvPr>
          <p:cNvSpPr txBox="1">
            <a:spLocks noGrp="1"/>
          </p:cNvSpPr>
          <p:nvPr>
            <p:ph type="title"/>
          </p:nvPr>
        </p:nvSpPr>
        <p:spPr>
          <a:xfrm>
            <a:off x="762918" y="320137"/>
            <a:ext cx="6961808" cy="641100"/>
          </a:xfrm>
          <a:prstGeom prst="rect">
            <a:avLst/>
          </a:prstGeom>
        </p:spPr>
        <p:txBody>
          <a:bodyPr spcFirstLastPara="1" wrap="square" lIns="91425" tIns="91425" rIns="91425" bIns="91425" anchor="b" anchorCtr="0">
            <a:noAutofit/>
          </a:bodyPr>
          <a:lstStyle/>
          <a:p>
            <a:r>
              <a:rPr lang="en-US" sz="2400" dirty="0"/>
              <a:t>Optimization Algorithms</a:t>
            </a:r>
          </a:p>
        </p:txBody>
      </p:sp>
      <p:sp>
        <p:nvSpPr>
          <p:cNvPr id="2" name="TextBox 1">
            <a:extLst>
              <a:ext uri="{FF2B5EF4-FFF2-40B4-BE49-F238E27FC236}">
                <a16:creationId xmlns:a16="http://schemas.microsoft.com/office/drawing/2014/main" id="{2719551A-893E-0ABA-4915-37CCABFFB949}"/>
              </a:ext>
            </a:extLst>
          </p:cNvPr>
          <p:cNvSpPr txBox="1"/>
          <p:nvPr/>
        </p:nvSpPr>
        <p:spPr>
          <a:xfrm>
            <a:off x="621669" y="1144858"/>
            <a:ext cx="4113882" cy="2031325"/>
          </a:xfrm>
          <a:prstGeom prst="rect">
            <a:avLst/>
          </a:prstGeom>
          <a:noFill/>
        </p:spPr>
        <p:txBody>
          <a:bodyPr wrap="squar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Calculus-Based Methods (Gradient-Based)</a:t>
            </a: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Used when functions are differentiable.</a:t>
            </a: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Gradient Descent (GD)</a:t>
            </a: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Stochastic Gradient Descent (SGD)</a:t>
            </a: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Newton’s Method Quasi-Newton (BFGS, L-BFGS)</a:t>
            </a:r>
          </a:p>
          <a:p>
            <a:r>
              <a:rPr lang="en-IN" b="1" dirty="0">
                <a:latin typeface="Open Sans" panose="020B0606030504020204" pitchFamily="34" charset="0"/>
                <a:ea typeface="Open Sans" panose="020B0606030504020204" pitchFamily="34" charset="0"/>
                <a:cs typeface="Open Sans" panose="020B0606030504020204" pitchFamily="34" charset="0"/>
              </a:rPr>
              <a:t>Best for:</a:t>
            </a:r>
            <a:br>
              <a:rPr lang="en-IN" dirty="0">
                <a:latin typeface="Open Sans" panose="020B0606030504020204" pitchFamily="34" charset="0"/>
                <a:ea typeface="Open Sans" panose="020B0606030504020204" pitchFamily="34" charset="0"/>
                <a:cs typeface="Open Sans" panose="020B0606030504020204" pitchFamily="34" charset="0"/>
              </a:rPr>
            </a:br>
            <a:r>
              <a:rPr lang="en-IN" dirty="0">
                <a:latin typeface="Open Sans" panose="020B0606030504020204" pitchFamily="34" charset="0"/>
                <a:ea typeface="Open Sans" panose="020B0606030504020204" pitchFamily="34" charset="0"/>
                <a:cs typeface="Open Sans" panose="020B0606030504020204" pitchFamily="34" charset="0"/>
              </a:rPr>
              <a:t>Smooth, convex, machine learning training, engineering models.</a:t>
            </a:r>
          </a:p>
        </p:txBody>
      </p:sp>
      <p:sp>
        <p:nvSpPr>
          <p:cNvPr id="3" name="TextBox 2">
            <a:extLst>
              <a:ext uri="{FF2B5EF4-FFF2-40B4-BE49-F238E27FC236}">
                <a16:creationId xmlns:a16="http://schemas.microsoft.com/office/drawing/2014/main" id="{D3807CE4-636F-2055-7001-72C62CC9BCFF}"/>
              </a:ext>
            </a:extLst>
          </p:cNvPr>
          <p:cNvSpPr txBox="1"/>
          <p:nvPr/>
        </p:nvSpPr>
        <p:spPr>
          <a:xfrm>
            <a:off x="762918" y="3419707"/>
            <a:ext cx="7652536" cy="1384995"/>
          </a:xfrm>
          <a:prstGeom prst="rect">
            <a:avLst/>
          </a:prstGeom>
          <a:noFill/>
        </p:spPr>
        <p:txBody>
          <a:bodyPr wrap="squar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Integer / Mixed-Integer Programming</a:t>
            </a: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Branch &amp; Bound			</a:t>
            </a:r>
            <a:r>
              <a:rPr lang="en-IN" b="1" dirty="0">
                <a:latin typeface="Open Sans" panose="020B0606030504020204" pitchFamily="34" charset="0"/>
                <a:ea typeface="Open Sans" panose="020B0606030504020204" pitchFamily="34" charset="0"/>
                <a:cs typeface="Open Sans" panose="020B0606030504020204" pitchFamily="34" charset="0"/>
              </a:rPr>
              <a:t> Best for:</a:t>
            </a:r>
            <a:endParaRPr lang="en-IN"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Branch &amp; Cut			      Scheduling, routing, combinatorial and</a:t>
            </a:r>
          </a:p>
          <a:p>
            <a:pPr marL="285750" indent="-285750">
              <a:buFont typeface="Arial" panose="020B0604020202020204" pitchFamily="34" charset="0"/>
              <a:buChar char="•"/>
            </a:pPr>
            <a:r>
              <a:rPr lang="en-IN" dirty="0">
                <a:latin typeface="Open Sans" panose="020B0606030504020204" pitchFamily="34" charset="0"/>
                <a:ea typeface="Open Sans" panose="020B0606030504020204" pitchFamily="34" charset="0"/>
                <a:cs typeface="Open Sans" panose="020B0606030504020204" pitchFamily="34" charset="0"/>
              </a:rPr>
              <a:t>Branch &amp; Price</a:t>
            </a:r>
            <a:r>
              <a:rPr lang="en-IN" b="1" dirty="0">
                <a:latin typeface="Open Sans" panose="020B0606030504020204" pitchFamily="34" charset="0"/>
                <a:ea typeface="Open Sans" panose="020B0606030504020204" pitchFamily="34" charset="0"/>
                <a:cs typeface="Open Sans" panose="020B0606030504020204" pitchFamily="34" charset="0"/>
              </a:rPr>
              <a:t>			      </a:t>
            </a:r>
            <a:r>
              <a:rPr lang="en-IN" dirty="0">
                <a:latin typeface="Open Sans" panose="020B0606030504020204" pitchFamily="34" charset="0"/>
                <a:ea typeface="Open Sans" panose="020B0606030504020204" pitchFamily="34" charset="0"/>
                <a:cs typeface="Open Sans" panose="020B0606030504020204" pitchFamily="34" charset="0"/>
              </a:rPr>
              <a:t>constraint-heavy problems.</a:t>
            </a:r>
          </a:p>
          <a:p>
            <a:br>
              <a:rPr lang="en-IN" dirty="0">
                <a:latin typeface="Open Sans" panose="020B0606030504020204" pitchFamily="34" charset="0"/>
                <a:ea typeface="Open Sans" panose="020B0606030504020204" pitchFamily="34" charset="0"/>
                <a:cs typeface="Open Sans" panose="020B0606030504020204" pitchFamily="34" charset="0"/>
              </a:rPr>
            </a:br>
            <a:endParaRPr lang="en-IN"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0898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8D97BF8B-3D37-D994-E1B2-0A321402B92D}"/>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28E58F30-B282-B673-F901-5361215E3032}"/>
              </a:ext>
            </a:extLst>
          </p:cNvPr>
          <p:cNvSpPr txBox="1">
            <a:spLocks noGrp="1"/>
          </p:cNvSpPr>
          <p:nvPr>
            <p:ph type="subTitle" idx="1"/>
          </p:nvPr>
        </p:nvSpPr>
        <p:spPr>
          <a:xfrm>
            <a:off x="635990" y="848693"/>
            <a:ext cx="7469809" cy="3790214"/>
          </a:xfrm>
          <a:prstGeom prst="rect">
            <a:avLst/>
          </a:prstGeom>
        </p:spPr>
        <p:txBody>
          <a:bodyPr spcFirstLastPara="1" wrap="square" lIns="91425" tIns="91425" rIns="91425" bIns="91425" anchor="t" anchorCtr="0">
            <a:noAutofit/>
          </a:bodyPr>
          <a:lstStyle/>
          <a:p>
            <a:r>
              <a:rPr lang="en-IN" sz="1400" b="1" dirty="0"/>
              <a:t>Heuristic &amp; Metaheuristic Algorithms</a:t>
            </a:r>
          </a:p>
          <a:p>
            <a:r>
              <a:rPr lang="en-IN" sz="1400" dirty="0"/>
              <a:t>These do not guarantee perfect solutions but work extremely well for complex problems.</a:t>
            </a:r>
          </a:p>
          <a:p>
            <a:endParaRPr lang="en-IN" sz="1400" dirty="0"/>
          </a:p>
          <a:p>
            <a:r>
              <a:rPr lang="en-IN" sz="1400" b="1" dirty="0"/>
              <a:t>	1. Local Search–Based</a:t>
            </a:r>
          </a:p>
          <a:p>
            <a:r>
              <a:rPr lang="en-IN" sz="1400" dirty="0"/>
              <a:t>		Hill Climbing</a:t>
            </a:r>
          </a:p>
          <a:p>
            <a:r>
              <a:rPr lang="en-IN" sz="1400" dirty="0"/>
              <a:t>		Simulated Annealing (SA)</a:t>
            </a:r>
          </a:p>
          <a:p>
            <a:r>
              <a:rPr lang="en-IN" sz="1400" dirty="0"/>
              <a:t>		Tabu Search</a:t>
            </a:r>
          </a:p>
          <a:p>
            <a:endParaRPr lang="en-IN" sz="1400" b="1" dirty="0"/>
          </a:p>
          <a:p>
            <a:r>
              <a:rPr lang="en-IN" sz="1400" b="1" dirty="0"/>
              <a:t>	3. Other Metaheuristics</a:t>
            </a:r>
          </a:p>
          <a:p>
            <a:r>
              <a:rPr lang="en-IN" sz="1400" dirty="0"/>
              <a:t>		Harmony Search</a:t>
            </a:r>
          </a:p>
          <a:p>
            <a:r>
              <a:rPr lang="en-IN" sz="1400" dirty="0"/>
              <a:t>		Greedy Randomized Adaptive Search </a:t>
            </a:r>
          </a:p>
          <a:p>
            <a:r>
              <a:rPr lang="en-IN" sz="1400" dirty="0"/>
              <a:t>		      Procedure (GRASP)</a:t>
            </a:r>
          </a:p>
          <a:p>
            <a:r>
              <a:rPr lang="en-IN" sz="1400" dirty="0"/>
              <a:t>		Variable Neighbourhood Search (VNS)</a:t>
            </a:r>
          </a:p>
          <a:p>
            <a:endParaRPr lang="en-IN" sz="1400" b="1" dirty="0"/>
          </a:p>
          <a:p>
            <a:r>
              <a:rPr lang="en-IN" sz="1400" b="1" dirty="0"/>
              <a:t>Best for:</a:t>
            </a:r>
            <a:br>
              <a:rPr lang="en-IN" sz="1400" dirty="0"/>
            </a:br>
            <a:r>
              <a:rPr lang="en-IN" sz="1400" dirty="0"/>
              <a:t>Non-linear, noisy, multi-modal, and huge search spaces.</a:t>
            </a:r>
          </a:p>
          <a:p>
            <a:br>
              <a:rPr lang="en-IN" sz="1400" dirty="0"/>
            </a:br>
            <a:endParaRPr lang="en-US" sz="1400" dirty="0"/>
          </a:p>
        </p:txBody>
      </p:sp>
      <p:sp>
        <p:nvSpPr>
          <p:cNvPr id="1213" name="Google Shape;1213;p27">
            <a:extLst>
              <a:ext uri="{FF2B5EF4-FFF2-40B4-BE49-F238E27FC236}">
                <a16:creationId xmlns:a16="http://schemas.microsoft.com/office/drawing/2014/main" id="{17918951-C91C-6002-A6C1-3FE2AEF2F795}"/>
              </a:ext>
            </a:extLst>
          </p:cNvPr>
          <p:cNvSpPr txBox="1">
            <a:spLocks noGrp="1"/>
          </p:cNvSpPr>
          <p:nvPr>
            <p:ph type="title"/>
          </p:nvPr>
        </p:nvSpPr>
        <p:spPr>
          <a:xfrm>
            <a:off x="754450" y="311671"/>
            <a:ext cx="6961808" cy="641100"/>
          </a:xfrm>
          <a:prstGeom prst="rect">
            <a:avLst/>
          </a:prstGeom>
        </p:spPr>
        <p:txBody>
          <a:bodyPr spcFirstLastPara="1" wrap="square" lIns="91425" tIns="91425" rIns="91425" bIns="91425" anchor="b" anchorCtr="0">
            <a:noAutofit/>
          </a:bodyPr>
          <a:lstStyle/>
          <a:p>
            <a:r>
              <a:rPr lang="en-US" sz="2400" dirty="0"/>
              <a:t>Optimization Algorithms</a:t>
            </a:r>
          </a:p>
        </p:txBody>
      </p:sp>
      <p:sp>
        <p:nvSpPr>
          <p:cNvPr id="2" name="TextBox 1">
            <a:extLst>
              <a:ext uri="{FF2B5EF4-FFF2-40B4-BE49-F238E27FC236}">
                <a16:creationId xmlns:a16="http://schemas.microsoft.com/office/drawing/2014/main" id="{B2443C9D-4C19-0625-9400-A38C759E4846}"/>
              </a:ext>
            </a:extLst>
          </p:cNvPr>
          <p:cNvSpPr txBox="1"/>
          <p:nvPr/>
        </p:nvSpPr>
        <p:spPr>
          <a:xfrm>
            <a:off x="5159298" y="1724722"/>
            <a:ext cx="2780370" cy="1384995"/>
          </a:xfrm>
          <a:prstGeom prst="rect">
            <a:avLst/>
          </a:prstGeom>
          <a:noFill/>
        </p:spPr>
        <p:txBody>
          <a:bodyPr wrap="squar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2. Swarm Intelligence–Based</a:t>
            </a:r>
          </a:p>
          <a:p>
            <a:r>
              <a:rPr lang="en-IN" dirty="0">
                <a:latin typeface="Open Sans" panose="020B0606030504020204" pitchFamily="34" charset="0"/>
                <a:ea typeface="Open Sans" panose="020B0606030504020204" pitchFamily="34" charset="0"/>
                <a:cs typeface="Open Sans" panose="020B0606030504020204" pitchFamily="34" charset="0"/>
              </a:rPr>
              <a:t>Particle Swarm Optimization (PSO)</a:t>
            </a:r>
          </a:p>
          <a:p>
            <a:r>
              <a:rPr lang="en-IN" dirty="0">
                <a:latin typeface="Open Sans" panose="020B0606030504020204" pitchFamily="34" charset="0"/>
                <a:ea typeface="Open Sans" panose="020B0606030504020204" pitchFamily="34" charset="0"/>
                <a:cs typeface="Open Sans" panose="020B0606030504020204" pitchFamily="34" charset="0"/>
              </a:rPr>
              <a:t>Ant Colony Optimization (ACO)</a:t>
            </a:r>
          </a:p>
          <a:p>
            <a:r>
              <a:rPr lang="en-IN" dirty="0">
                <a:latin typeface="Open Sans" panose="020B0606030504020204" pitchFamily="34" charset="0"/>
                <a:ea typeface="Open Sans" panose="020B0606030504020204" pitchFamily="34" charset="0"/>
                <a:cs typeface="Open Sans" panose="020B0606030504020204" pitchFamily="34" charset="0"/>
              </a:rPr>
              <a:t>Artificial Bee Colony (ABC)</a:t>
            </a:r>
          </a:p>
          <a:p>
            <a:endParaRPr lang="en-IN"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7432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1909771"/>
            <a:ext cx="4300200" cy="16214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Computing</a:t>
            </a:r>
            <a:endParaRPr dirty="0"/>
          </a:p>
        </p:txBody>
      </p:sp>
      <p:sp>
        <p:nvSpPr>
          <p:cNvPr id="1290" name="Google Shape;1290;p28"/>
          <p:cNvSpPr txBox="1">
            <a:spLocks noGrp="1"/>
          </p:cNvSpPr>
          <p:nvPr>
            <p:ph type="title" idx="2"/>
          </p:nvPr>
        </p:nvSpPr>
        <p:spPr>
          <a:xfrm>
            <a:off x="4130550" y="898602"/>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0"/>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Computing</a:t>
            </a:r>
            <a:endParaRPr dirty="0"/>
          </a:p>
        </p:txBody>
      </p:sp>
      <p:sp>
        <p:nvSpPr>
          <p:cNvPr id="1594" name="Google Shape;1594;p30"/>
          <p:cNvSpPr txBox="1">
            <a:spLocks noGrp="1"/>
          </p:cNvSpPr>
          <p:nvPr>
            <p:ph type="subTitle" idx="1"/>
          </p:nvPr>
        </p:nvSpPr>
        <p:spPr>
          <a:xfrm>
            <a:off x="1112751" y="1329638"/>
            <a:ext cx="5429298" cy="870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Evolutionary Computing is a branch of artificial intelligence that designs optimization algorithms inspired by biological evolution using populations of solutions that evolve over time through variation, selection, and inheritance.</a:t>
            </a:r>
            <a:endParaRPr dirty="0"/>
          </a:p>
        </p:txBody>
      </p:sp>
      <p:sp>
        <p:nvSpPr>
          <p:cNvPr id="1595" name="Google Shape;1595;p30"/>
          <p:cNvSpPr txBox="1">
            <a:spLocks noGrp="1"/>
          </p:cNvSpPr>
          <p:nvPr>
            <p:ph type="subTitle" idx="2"/>
          </p:nvPr>
        </p:nvSpPr>
        <p:spPr>
          <a:xfrm>
            <a:off x="1112751" y="2423532"/>
            <a:ext cx="5659756" cy="23194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Most of the classical optimization breaks down when the problem is non-differentiable, noisy, discontinuous, combinatorial, filled with local optima, multi-objective, stochastic, constraint heavy, large search space.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Most of real-life problems will satisfy at least four of above-mentioned problems. </a:t>
            </a:r>
          </a:p>
          <a:p>
            <a:pPr marL="0" lvl="0" indent="0" algn="l" rtl="0">
              <a:spcBef>
                <a:spcPts val="0"/>
              </a:spcBef>
              <a:spcAft>
                <a:spcPts val="0"/>
              </a:spcAft>
              <a:buNone/>
            </a:pPr>
            <a:r>
              <a:rPr lang="en-US" dirty="0"/>
              <a:t>Evolutionary Computing doesn’t need gradients convexity, continuity, perfect models. It can work even in the places where traditional algorithms fall apart.</a:t>
            </a:r>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BD199484-6209-2C34-8699-DD722CF962B0}"/>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B4FDA1F5-6CF1-8FD9-CB16-0E5923D67FA6}"/>
              </a:ext>
            </a:extLst>
          </p:cNvPr>
          <p:cNvSpPr txBox="1">
            <a:spLocks noGrp="1"/>
          </p:cNvSpPr>
          <p:nvPr>
            <p:ph type="title"/>
          </p:nvPr>
        </p:nvSpPr>
        <p:spPr>
          <a:xfrm>
            <a:off x="716550" y="482202"/>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Computing</a:t>
            </a:r>
            <a:endParaRPr dirty="0"/>
          </a:p>
        </p:txBody>
      </p:sp>
      <p:sp>
        <p:nvSpPr>
          <p:cNvPr id="1594" name="Google Shape;1594;p30">
            <a:extLst>
              <a:ext uri="{FF2B5EF4-FFF2-40B4-BE49-F238E27FC236}">
                <a16:creationId xmlns:a16="http://schemas.microsoft.com/office/drawing/2014/main" id="{0EFAB3AC-CEC6-069A-D1ED-0F31DA337B24}"/>
              </a:ext>
            </a:extLst>
          </p:cNvPr>
          <p:cNvSpPr txBox="1">
            <a:spLocks noGrp="1"/>
          </p:cNvSpPr>
          <p:nvPr>
            <p:ph type="subTitle" idx="1"/>
          </p:nvPr>
        </p:nvSpPr>
        <p:spPr>
          <a:xfrm>
            <a:off x="1257717" y="1458578"/>
            <a:ext cx="6368192" cy="3089038"/>
          </a:xfrm>
          <a:prstGeom prst="rect">
            <a:avLst/>
          </a:prstGeom>
        </p:spPr>
        <p:txBody>
          <a:bodyPr spcFirstLastPara="1" wrap="square" lIns="91425" tIns="91425" rIns="91425" bIns="91425" anchor="t" anchorCtr="0">
            <a:noAutofit/>
          </a:bodyPr>
          <a:lstStyle/>
          <a:p>
            <a:pPr marL="0" lvl="0" indent="0" eaLnBrk="0" fontAlgn="base" hangingPunct="0">
              <a:spcBef>
                <a:spcPct val="0"/>
              </a:spcBef>
              <a:spcAft>
                <a:spcPct val="0"/>
              </a:spcAft>
              <a:buClrTx/>
              <a:buSzTx/>
            </a:pPr>
            <a:r>
              <a:rPr lang="en-IN" b="1" dirty="0"/>
              <a:t>(</a:t>
            </a:r>
            <a:r>
              <a:rPr lang="en-IN" b="1" dirty="0" err="1"/>
              <a:t>i</a:t>
            </a:r>
            <a:r>
              <a:rPr lang="en-IN" b="1" dirty="0"/>
              <a:t>) Population-Based Search: </a:t>
            </a:r>
            <a:r>
              <a:rPr lang="en-US" altLang="en-US" dirty="0">
                <a:solidFill>
                  <a:schemeClr val="tx1"/>
                </a:solidFill>
                <a:latin typeface="Arial" panose="020B0604020202020204" pitchFamily="34" charset="0"/>
              </a:rPr>
              <a:t>Multiple candidate solutions explored in parallel. </a:t>
            </a:r>
          </a:p>
          <a:p>
            <a:pPr marL="0" lvl="0" indent="0" eaLnBrk="0" fontAlgn="base" hangingPunct="0">
              <a:spcBef>
                <a:spcPct val="0"/>
              </a:spcBef>
              <a:spcAft>
                <a:spcPct val="0"/>
              </a:spcAft>
              <a:buClrTx/>
              <a:buSzTx/>
            </a:pPr>
            <a:r>
              <a:rPr lang="en-US" altLang="en-US" dirty="0">
                <a:solidFill>
                  <a:schemeClr val="tx1"/>
                </a:solidFill>
                <a:latin typeface="Arial" panose="020B0604020202020204" pitchFamily="34" charset="0"/>
              </a:rPr>
              <a:t>	Offers better global search and avoids getting trapped in local minima.</a:t>
            </a:r>
            <a:endParaRPr lang="en-US" altLang="en-US" b="1" dirty="0">
              <a:solidFill>
                <a:schemeClr val="tx1"/>
              </a:solidFill>
              <a:latin typeface="Arial" panose="020B0604020202020204" pitchFamily="34" charset="0"/>
            </a:endParaRPr>
          </a:p>
          <a:p>
            <a:pPr marL="0" lvl="0" indent="0" eaLnBrk="0" fontAlgn="base" hangingPunct="0">
              <a:spcBef>
                <a:spcPct val="0"/>
              </a:spcBef>
              <a:spcAft>
                <a:spcPct val="0"/>
              </a:spcAft>
              <a:buClrTx/>
              <a:buSzTx/>
            </a:pPr>
            <a:endParaRPr lang="en-US" b="1" dirty="0">
              <a:solidFill>
                <a:schemeClr val="tx1"/>
              </a:solidFill>
              <a:latin typeface="Arial" panose="020B0604020202020204" pitchFamily="34" charset="0"/>
            </a:endParaRPr>
          </a:p>
          <a:p>
            <a:pPr marL="0" lvl="0" indent="0" eaLnBrk="0" fontAlgn="base" hangingPunct="0">
              <a:spcBef>
                <a:spcPct val="0"/>
              </a:spcBef>
              <a:spcAft>
                <a:spcPct val="0"/>
              </a:spcAft>
              <a:buClrTx/>
              <a:buSzTx/>
            </a:pPr>
            <a:r>
              <a:rPr lang="en-US" b="1" dirty="0">
                <a:solidFill>
                  <a:schemeClr val="tx1"/>
                </a:solidFill>
                <a:latin typeface="Arial" panose="020B0604020202020204" pitchFamily="34" charset="0"/>
              </a:rPr>
              <a:t>(ii) </a:t>
            </a:r>
            <a:r>
              <a:rPr lang="en-US" b="1" dirty="0"/>
              <a:t>Variation Operators: </a:t>
            </a:r>
            <a:r>
              <a:rPr lang="en-US" dirty="0"/>
              <a:t>Mutation: random modifications to maintain diversity.</a:t>
            </a:r>
          </a:p>
          <a:p>
            <a:r>
              <a:rPr lang="en-US" dirty="0"/>
              <a:t>		Crossover/Recombination: combines features of two solutions.</a:t>
            </a:r>
          </a:p>
          <a:p>
            <a:pPr marL="0" lvl="0" indent="0" eaLnBrk="0" fontAlgn="base" hangingPunct="0">
              <a:spcBef>
                <a:spcPct val="0"/>
              </a:spcBef>
              <a:spcAft>
                <a:spcPct val="0"/>
              </a:spcAft>
              <a:buClrTx/>
              <a:buSzTx/>
            </a:pP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ClrTx/>
              <a:buSzTx/>
            </a:pPr>
            <a:r>
              <a:rPr lang="en-US" altLang="en-US" b="1" dirty="0">
                <a:solidFill>
                  <a:schemeClr val="tx1"/>
                </a:solidFill>
                <a:latin typeface="Arial" panose="020B0604020202020204" pitchFamily="34" charset="0"/>
              </a:rPr>
              <a:t>(iii) Selection: </a:t>
            </a:r>
            <a:r>
              <a:rPr lang="en-US" altLang="en-US" dirty="0">
                <a:solidFill>
                  <a:schemeClr val="tx1"/>
                </a:solidFill>
                <a:latin typeface="Arial" panose="020B0604020202020204" pitchFamily="34" charset="0"/>
              </a:rPr>
              <a:t>Better solutions survive to the next generation.</a:t>
            </a:r>
          </a:p>
          <a:p>
            <a:pPr marL="0" lvl="0" indent="0" eaLnBrk="0" fontAlgn="base" hangingPunct="0">
              <a:spcBef>
                <a:spcPct val="0"/>
              </a:spcBef>
              <a:spcAft>
                <a:spcPct val="0"/>
              </a:spcAft>
              <a:buClrTx/>
              <a:buSzTx/>
            </a:pPr>
            <a:r>
              <a:rPr lang="en-US" altLang="en-US" dirty="0">
                <a:solidFill>
                  <a:schemeClr val="tx1"/>
                </a:solidFill>
                <a:latin typeface="Arial" panose="020B0604020202020204" pitchFamily="34" charset="0"/>
              </a:rPr>
              <a:t>	Drives the search toward optimal regions.</a:t>
            </a:r>
          </a:p>
          <a:p>
            <a:pPr marL="0" lvl="0" indent="0" eaLnBrk="0" fontAlgn="base" hangingPunct="0">
              <a:spcBef>
                <a:spcPct val="0"/>
              </a:spcBef>
              <a:spcAft>
                <a:spcPct val="0"/>
              </a:spcAft>
              <a:buClrTx/>
              <a:buSzTx/>
            </a:pPr>
            <a:endParaRPr lang="en-US" altLang="en-US" b="1" dirty="0">
              <a:solidFill>
                <a:schemeClr val="tx1"/>
              </a:solidFill>
              <a:latin typeface="Arial" panose="020B0604020202020204" pitchFamily="34" charset="0"/>
            </a:endParaRPr>
          </a:p>
          <a:p>
            <a:pPr marL="0" indent="0" eaLnBrk="0" fontAlgn="base" hangingPunct="0">
              <a:spcBef>
                <a:spcPct val="0"/>
              </a:spcBef>
              <a:spcAft>
                <a:spcPct val="0"/>
              </a:spcAft>
              <a:buClrTx/>
              <a:buSzTx/>
            </a:pPr>
            <a:r>
              <a:rPr lang="en-US" altLang="en-US" b="1" dirty="0">
                <a:solidFill>
                  <a:schemeClr val="tx1"/>
                </a:solidFill>
                <a:latin typeface="Arial" panose="020B0604020202020204" pitchFamily="34" charset="0"/>
              </a:rPr>
              <a:t>(iv) Fitness Evaluation: </a:t>
            </a:r>
            <a:r>
              <a:rPr lang="en-US" dirty="0"/>
              <a:t>Each solution is scored using the objective function (cost, error, distance, etc.)</a:t>
            </a:r>
          </a:p>
          <a:p>
            <a:pPr marL="0" lvl="0" indent="0" eaLnBrk="0" fontAlgn="base" hangingPunct="0">
              <a:spcBef>
                <a:spcPct val="0"/>
              </a:spcBef>
              <a:spcAft>
                <a:spcPct val="0"/>
              </a:spcAft>
              <a:buClrTx/>
              <a:buSzTx/>
            </a:pPr>
            <a:endParaRPr lang="en-US" altLang="en-US" b="1" dirty="0">
              <a:solidFill>
                <a:schemeClr val="tx1"/>
              </a:solidFill>
              <a:latin typeface="Arial" panose="020B0604020202020204" pitchFamily="34" charset="0"/>
            </a:endParaRPr>
          </a:p>
          <a:p>
            <a:pPr marL="0" indent="0" eaLnBrk="0" fontAlgn="base" hangingPunct="0">
              <a:spcBef>
                <a:spcPct val="0"/>
              </a:spcBef>
              <a:spcAft>
                <a:spcPct val="0"/>
              </a:spcAft>
              <a:buClrTx/>
              <a:buSzTx/>
            </a:pPr>
            <a:r>
              <a:rPr lang="en-US" altLang="en-US" b="1" dirty="0">
                <a:solidFill>
                  <a:schemeClr val="tx1"/>
                </a:solidFill>
                <a:latin typeface="Arial" panose="020B0604020202020204" pitchFamily="34" charset="0"/>
              </a:rPr>
              <a:t>(v) Evolution through Generations: </a:t>
            </a:r>
            <a:r>
              <a:rPr lang="en-US" dirty="0"/>
              <a:t>Repeated cycle of: Evaluate → Select → Reproduce → Mutate → Replace.</a:t>
            </a:r>
          </a:p>
          <a:p>
            <a:pPr marL="0" lvl="0" indent="0" eaLnBrk="0" fontAlgn="base" hangingPunct="0">
              <a:spcBef>
                <a:spcPct val="0"/>
              </a:spcBef>
              <a:spcAft>
                <a:spcPct val="0"/>
              </a:spcAft>
              <a:buClrTx/>
              <a:buSzTx/>
            </a:pPr>
            <a:endParaRPr lang="en-US" altLang="en-US" b="1" dirty="0">
              <a:solidFill>
                <a:schemeClr val="tx1"/>
              </a:solidFill>
              <a:latin typeface="Arial" panose="020B0604020202020204" pitchFamily="34" charset="0"/>
            </a:endParaRPr>
          </a:p>
        </p:txBody>
      </p:sp>
      <p:grpSp>
        <p:nvGrpSpPr>
          <p:cNvPr id="1598" name="Google Shape;1598;p30">
            <a:extLst>
              <a:ext uri="{FF2B5EF4-FFF2-40B4-BE49-F238E27FC236}">
                <a16:creationId xmlns:a16="http://schemas.microsoft.com/office/drawing/2014/main" id="{5759B677-AFD2-1E8E-D022-162CD40192C4}"/>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7BCB0E6F-7462-A6ED-FDA2-DFADD018C346}"/>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916D36AC-298E-4283-C608-5059937F84B5}"/>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AD2CF58C-ACE3-1AEF-E230-D80B1F9B48EA}"/>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FACC23FB-A169-743C-7520-5061A6B5AC83}"/>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144CBDE0-25CC-243B-29ED-44D879884CB2}"/>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08780F14-D393-E669-497C-E4A0A6C657AE}"/>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386278D8-AAE4-33C0-79A4-48D7CBE6A1CD}"/>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80BB38CB-255D-95FF-AE6B-026C59043421}"/>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FCA7AB97-52CE-4907-628D-1884D056DD39}"/>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02529691-EBC4-B150-B06A-CAAF080037E0}"/>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619;p31">
            <a:extLst>
              <a:ext uri="{FF2B5EF4-FFF2-40B4-BE49-F238E27FC236}">
                <a16:creationId xmlns:a16="http://schemas.microsoft.com/office/drawing/2014/main" id="{86946BB1-31D7-161A-DED8-C05F456D1F0D}"/>
              </a:ext>
            </a:extLst>
          </p:cNvPr>
          <p:cNvSpPr txBox="1">
            <a:spLocks/>
          </p:cNvSpPr>
          <p:nvPr/>
        </p:nvSpPr>
        <p:spPr>
          <a:xfrm>
            <a:off x="855308" y="1058293"/>
            <a:ext cx="5320548"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US" sz="1600" dirty="0"/>
              <a:t>Core Principles:</a:t>
            </a:r>
            <a:endParaRPr lang="en-IN" sz="1600" dirty="0"/>
          </a:p>
        </p:txBody>
      </p:sp>
    </p:spTree>
    <p:extLst>
      <p:ext uri="{BB962C8B-B14F-4D97-AF65-F5344CB8AC3E}">
        <p14:creationId xmlns:p14="http://schemas.microsoft.com/office/powerpoint/2010/main" val="2948235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1DB02CCA-4B1B-9EBD-2394-68B14C4E64A4}"/>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7E152F8E-E7A7-871E-0889-50A35F0FF5DC}"/>
              </a:ext>
            </a:extLst>
          </p:cNvPr>
          <p:cNvSpPr txBox="1">
            <a:spLocks noGrp="1"/>
          </p:cNvSpPr>
          <p:nvPr>
            <p:ph type="title"/>
          </p:nvPr>
        </p:nvSpPr>
        <p:spPr>
          <a:xfrm>
            <a:off x="716550" y="482202"/>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Computing</a:t>
            </a:r>
            <a:endParaRPr dirty="0"/>
          </a:p>
        </p:txBody>
      </p:sp>
      <p:sp>
        <p:nvSpPr>
          <p:cNvPr id="1594" name="Google Shape;1594;p30">
            <a:extLst>
              <a:ext uri="{FF2B5EF4-FFF2-40B4-BE49-F238E27FC236}">
                <a16:creationId xmlns:a16="http://schemas.microsoft.com/office/drawing/2014/main" id="{098EB194-B0AA-556A-121E-E1E227449683}"/>
              </a:ext>
            </a:extLst>
          </p:cNvPr>
          <p:cNvSpPr txBox="1">
            <a:spLocks noGrp="1"/>
          </p:cNvSpPr>
          <p:nvPr>
            <p:ph type="subTitle" idx="1"/>
          </p:nvPr>
        </p:nvSpPr>
        <p:spPr>
          <a:xfrm>
            <a:off x="1257717" y="1458578"/>
            <a:ext cx="6368192" cy="3089038"/>
          </a:xfrm>
          <a:prstGeom prst="rect">
            <a:avLst/>
          </a:prstGeom>
        </p:spPr>
        <p:txBody>
          <a:bodyPr spcFirstLastPara="1" wrap="square" lIns="91425" tIns="91425" rIns="91425" bIns="91425" anchor="t" anchorCtr="0">
            <a:noAutofit/>
          </a:bodyPr>
          <a:lstStyle/>
          <a:p>
            <a:r>
              <a:rPr lang="en-IN" b="1" dirty="0"/>
              <a:t>1. Genetic Algorithms (GA) </a:t>
            </a:r>
            <a:r>
              <a:rPr lang="en-IN" dirty="0"/>
              <a:t>Chromosome representation, crossover, mutation.</a:t>
            </a:r>
          </a:p>
          <a:p>
            <a:r>
              <a:rPr lang="en-IN" dirty="0"/>
              <a:t>	Best for discrete and combinatorial optimization.</a:t>
            </a:r>
          </a:p>
          <a:p>
            <a:endParaRPr lang="en-IN" b="1" dirty="0"/>
          </a:p>
          <a:p>
            <a:r>
              <a:rPr lang="en-IN" b="1" dirty="0"/>
              <a:t>2. Evolution Strategies (ES)</a:t>
            </a:r>
            <a:r>
              <a:rPr lang="en-IN" dirty="0"/>
              <a:t>Strong focus on mutation; excellent for continuous optimization.</a:t>
            </a:r>
          </a:p>
          <a:p>
            <a:endParaRPr lang="en-IN" b="1" dirty="0"/>
          </a:p>
          <a:p>
            <a:r>
              <a:rPr lang="en-IN" b="1" dirty="0"/>
              <a:t>3. Differential Evolution (DE) </a:t>
            </a:r>
            <a:r>
              <a:rPr lang="en-IN" dirty="0"/>
              <a:t>Vector-based recombination; powerful for numerical problems.</a:t>
            </a:r>
          </a:p>
          <a:p>
            <a:endParaRPr lang="en-IN" b="1" dirty="0"/>
          </a:p>
          <a:p>
            <a:r>
              <a:rPr lang="en-IN" b="1" dirty="0"/>
              <a:t>4. Genetic Programming (GP) </a:t>
            </a:r>
            <a:r>
              <a:rPr lang="en-IN" dirty="0"/>
              <a:t>Evolves entire programs or mathematical expressions.</a:t>
            </a:r>
          </a:p>
          <a:p>
            <a:endParaRPr lang="en-IN" b="1" dirty="0"/>
          </a:p>
          <a:p>
            <a:r>
              <a:rPr lang="en-IN" b="1" dirty="0"/>
              <a:t>5. Multi-Objective Evolutionary Algorithms (MOEAs) </a:t>
            </a:r>
            <a:r>
              <a:rPr lang="en-IN" dirty="0"/>
              <a:t>Produce Pareto-optimal solutions for conflicting objectives.</a:t>
            </a:r>
          </a:p>
          <a:p>
            <a:pPr marL="0" lvl="0" indent="0" eaLnBrk="0" fontAlgn="base" hangingPunct="0">
              <a:spcBef>
                <a:spcPct val="0"/>
              </a:spcBef>
              <a:spcAft>
                <a:spcPct val="0"/>
              </a:spcAft>
              <a:buClrTx/>
              <a:buSzTx/>
            </a:pPr>
            <a:endParaRPr lang="en-US" altLang="en-US" b="1" dirty="0">
              <a:solidFill>
                <a:schemeClr val="tx1"/>
              </a:solidFill>
              <a:latin typeface="Arial" panose="020B0604020202020204" pitchFamily="34" charset="0"/>
            </a:endParaRPr>
          </a:p>
        </p:txBody>
      </p:sp>
      <p:grpSp>
        <p:nvGrpSpPr>
          <p:cNvPr id="1598" name="Google Shape;1598;p30">
            <a:extLst>
              <a:ext uri="{FF2B5EF4-FFF2-40B4-BE49-F238E27FC236}">
                <a16:creationId xmlns:a16="http://schemas.microsoft.com/office/drawing/2014/main" id="{D063EAEA-86C1-69EC-772C-DB975CD9A912}"/>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EAC8C6D4-F689-59E1-C209-F4C96A3A8D4C}"/>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76DF9D7A-80ED-B51B-B784-D92427A93CF8}"/>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BAFF497B-8CA6-2AFA-239C-3C14CF4D4A3B}"/>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DCC81CFD-5BCD-4F2B-B316-5ED67B0898E6}"/>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AE95E8E1-5F07-7FED-6468-5EED8E40B688}"/>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EF1E0CC2-A4F9-7196-54D2-D452DF29FB96}"/>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6C86729E-994C-128D-98EA-A8552B39A066}"/>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CFE551BF-21E3-34EA-58A5-3636B284251A}"/>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7625D428-154D-680E-99A2-40FCE1E9BC40}"/>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0FA56FF8-1589-EEBB-2422-47754B0BA712}"/>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619;p31">
            <a:extLst>
              <a:ext uri="{FF2B5EF4-FFF2-40B4-BE49-F238E27FC236}">
                <a16:creationId xmlns:a16="http://schemas.microsoft.com/office/drawing/2014/main" id="{8DC5BF00-9EEA-98E9-1DE4-AE3945C3FD34}"/>
              </a:ext>
            </a:extLst>
          </p:cNvPr>
          <p:cNvSpPr txBox="1">
            <a:spLocks/>
          </p:cNvSpPr>
          <p:nvPr/>
        </p:nvSpPr>
        <p:spPr>
          <a:xfrm>
            <a:off x="855308" y="1058293"/>
            <a:ext cx="5320548"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US" sz="1600" dirty="0"/>
              <a:t>Types of Evolutionary Computing Approaches:</a:t>
            </a:r>
            <a:endParaRPr lang="en-IN" sz="1600" dirty="0"/>
          </a:p>
        </p:txBody>
      </p:sp>
    </p:spTree>
    <p:extLst>
      <p:ext uri="{BB962C8B-B14F-4D97-AF65-F5344CB8AC3E}">
        <p14:creationId xmlns:p14="http://schemas.microsoft.com/office/powerpoint/2010/main" val="55411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C09E6836-6127-41FC-3277-7AA403AA6C57}"/>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2079EA87-6C42-82C3-DDB1-CE8AEBD086EB}"/>
              </a:ext>
            </a:extLst>
          </p:cNvPr>
          <p:cNvSpPr txBox="1">
            <a:spLocks noGrp="1"/>
          </p:cNvSpPr>
          <p:nvPr>
            <p:ph type="title"/>
          </p:nvPr>
        </p:nvSpPr>
        <p:spPr>
          <a:xfrm>
            <a:off x="716550" y="482202"/>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Computing</a:t>
            </a:r>
            <a:endParaRPr dirty="0"/>
          </a:p>
        </p:txBody>
      </p:sp>
      <p:sp>
        <p:nvSpPr>
          <p:cNvPr id="1594" name="Google Shape;1594;p30">
            <a:extLst>
              <a:ext uri="{FF2B5EF4-FFF2-40B4-BE49-F238E27FC236}">
                <a16:creationId xmlns:a16="http://schemas.microsoft.com/office/drawing/2014/main" id="{8904A3D0-93D0-FFF8-5AB0-0D6687D41A76}"/>
              </a:ext>
            </a:extLst>
          </p:cNvPr>
          <p:cNvSpPr txBox="1">
            <a:spLocks noGrp="1"/>
          </p:cNvSpPr>
          <p:nvPr>
            <p:ph type="subTitle" idx="1"/>
          </p:nvPr>
        </p:nvSpPr>
        <p:spPr>
          <a:xfrm>
            <a:off x="1257717" y="1458578"/>
            <a:ext cx="6368192" cy="3089038"/>
          </a:xfrm>
          <a:prstGeom prst="rect">
            <a:avLst/>
          </a:prstGeom>
        </p:spPr>
        <p:txBody>
          <a:bodyPr spcFirstLastPara="1" wrap="square" lIns="91425" tIns="91425" rIns="91425" bIns="91425" anchor="t" anchorCtr="0">
            <a:noAutofit/>
          </a:bodyPr>
          <a:lstStyle/>
          <a:p>
            <a:r>
              <a:rPr lang="en-IN" sz="1400" b="1" dirty="0"/>
              <a:t>Strengths</a:t>
            </a:r>
            <a:endParaRPr lang="en-IN" sz="1400" dirty="0"/>
          </a:p>
          <a:p>
            <a:pPr>
              <a:buFont typeface="Wingdings" panose="05000000000000000000" pitchFamily="2" charset="2"/>
              <a:buChar char="Ø"/>
            </a:pPr>
            <a:r>
              <a:rPr lang="en-IN" sz="1400" dirty="0"/>
              <a:t>Handles complex, high-dimensional, non-smooth problems</a:t>
            </a:r>
          </a:p>
          <a:p>
            <a:pPr>
              <a:buFont typeface="Wingdings" panose="05000000000000000000" pitchFamily="2" charset="2"/>
              <a:buChar char="Ø"/>
            </a:pPr>
            <a:r>
              <a:rPr lang="en-IN" sz="1400" dirty="0"/>
              <a:t>Good global search capability</a:t>
            </a:r>
          </a:p>
          <a:p>
            <a:pPr>
              <a:buFont typeface="Wingdings" panose="05000000000000000000" pitchFamily="2" charset="2"/>
              <a:buChar char="Ø"/>
            </a:pPr>
            <a:r>
              <a:rPr lang="en-IN" sz="1400" dirty="0"/>
              <a:t>Works on discrete + continuous spaces</a:t>
            </a:r>
          </a:p>
          <a:p>
            <a:pPr>
              <a:buFont typeface="Wingdings" panose="05000000000000000000" pitchFamily="2" charset="2"/>
              <a:buChar char="Ø"/>
            </a:pPr>
            <a:r>
              <a:rPr lang="en-IN" sz="1400" dirty="0"/>
              <a:t>Naturally suited for multi-objective optimization</a:t>
            </a:r>
          </a:p>
          <a:p>
            <a:pPr>
              <a:buFont typeface="Wingdings" panose="05000000000000000000" pitchFamily="2" charset="2"/>
              <a:buChar char="Ø"/>
            </a:pPr>
            <a:r>
              <a:rPr lang="en-IN" sz="1400" dirty="0"/>
              <a:t>Parallelizable for faster performance</a:t>
            </a:r>
          </a:p>
          <a:p>
            <a:endParaRPr lang="en-IN" sz="1400" b="1" dirty="0"/>
          </a:p>
          <a:p>
            <a:r>
              <a:rPr lang="en-IN" sz="1400" b="1" dirty="0"/>
              <a:t>Limitations</a:t>
            </a:r>
          </a:p>
          <a:p>
            <a:pPr marL="438150" indent="-285750">
              <a:buFont typeface="Wingdings" panose="05000000000000000000" pitchFamily="2" charset="2"/>
              <a:buChar char="Ø"/>
            </a:pPr>
            <a:r>
              <a:rPr lang="en-IN" sz="1400" dirty="0"/>
              <a:t>Computationally expensive for large populations</a:t>
            </a:r>
          </a:p>
          <a:p>
            <a:pPr marL="438150" indent="-285750">
              <a:buFont typeface="Wingdings" panose="05000000000000000000" pitchFamily="2" charset="2"/>
              <a:buChar char="Ø"/>
            </a:pPr>
            <a:r>
              <a:rPr lang="en-IN" sz="1400" dirty="0"/>
              <a:t>No guarantee of exact global optimum</a:t>
            </a:r>
          </a:p>
          <a:p>
            <a:pPr marL="438150" indent="-285750">
              <a:buFont typeface="Wingdings" panose="05000000000000000000" pitchFamily="2" charset="2"/>
              <a:buChar char="Ø"/>
            </a:pPr>
            <a:r>
              <a:rPr lang="en-IN" sz="1400" dirty="0"/>
              <a:t>Requires parameter tuning (mutation rate, population size, etc.)</a:t>
            </a:r>
          </a:p>
          <a:p>
            <a:pPr marL="438150" indent="-285750">
              <a:buFont typeface="Wingdings" panose="05000000000000000000" pitchFamily="2" charset="2"/>
              <a:buChar char="Ø"/>
            </a:pPr>
            <a:r>
              <a:rPr lang="en-IN" sz="1400" dirty="0"/>
              <a:t>Overkill for simple or convex problems</a:t>
            </a:r>
          </a:p>
          <a:p>
            <a:pPr marL="0" lvl="0" indent="0" eaLnBrk="0" fontAlgn="base" hangingPunct="0">
              <a:spcBef>
                <a:spcPct val="0"/>
              </a:spcBef>
              <a:spcAft>
                <a:spcPct val="0"/>
              </a:spcAft>
              <a:buClrTx/>
              <a:buSzTx/>
            </a:pPr>
            <a:endParaRPr lang="en-US" altLang="en-US" b="1" dirty="0">
              <a:solidFill>
                <a:schemeClr val="tx1"/>
              </a:solidFill>
              <a:latin typeface="Arial" panose="020B0604020202020204" pitchFamily="34" charset="0"/>
            </a:endParaRPr>
          </a:p>
        </p:txBody>
      </p:sp>
      <p:grpSp>
        <p:nvGrpSpPr>
          <p:cNvPr id="1598" name="Google Shape;1598;p30">
            <a:extLst>
              <a:ext uri="{FF2B5EF4-FFF2-40B4-BE49-F238E27FC236}">
                <a16:creationId xmlns:a16="http://schemas.microsoft.com/office/drawing/2014/main" id="{66A8D001-DD37-42EE-2D19-8B80192AD93E}"/>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060B5059-0798-5EDD-53AA-6198FF9D1625}"/>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C7F6D5C7-C291-78E3-03A8-E6B9773C1802}"/>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E4195A7B-349A-46E5-D322-60B1199F5706}"/>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4D90AF4F-FC13-04A9-1E58-7B07EE26127E}"/>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125BDC41-6BDA-FD0A-AB73-D3B42F0F5C26}"/>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827B4A8F-3B8A-9C1D-87D0-43FDBE01277B}"/>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6F198DA4-B2BE-1EE4-5380-8DCC2939CBFF}"/>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A23387CC-AC31-4648-2D5A-AC9F93D0A6FD}"/>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0AEC6850-6D12-E827-4036-D283BA151780}"/>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AD476C68-4EDE-BC83-9CB7-F45E3D17D7A2}"/>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619;p31">
            <a:extLst>
              <a:ext uri="{FF2B5EF4-FFF2-40B4-BE49-F238E27FC236}">
                <a16:creationId xmlns:a16="http://schemas.microsoft.com/office/drawing/2014/main" id="{E9D7B6DD-0E66-FD58-5207-4C52E7B851E6}"/>
              </a:ext>
            </a:extLst>
          </p:cNvPr>
          <p:cNvSpPr txBox="1">
            <a:spLocks/>
          </p:cNvSpPr>
          <p:nvPr/>
        </p:nvSpPr>
        <p:spPr>
          <a:xfrm>
            <a:off x="855308" y="1058293"/>
            <a:ext cx="5320548"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IN" sz="1600" dirty="0"/>
              <a:t>Strengths and Limitations:</a:t>
            </a:r>
          </a:p>
        </p:txBody>
      </p:sp>
    </p:spTree>
    <p:extLst>
      <p:ext uri="{BB962C8B-B14F-4D97-AF65-F5344CB8AC3E}">
        <p14:creationId xmlns:p14="http://schemas.microsoft.com/office/powerpoint/2010/main" val="2221033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Algorithms</a:t>
            </a:r>
            <a:endParaRPr dirty="0"/>
          </a:p>
        </p:txBody>
      </p:sp>
      <p:sp>
        <p:nvSpPr>
          <p:cNvPr id="1290" name="Google Shape;1290;p28"/>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61162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C09E6836-6127-41FC-3277-7AA403AA6C57}"/>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2079EA87-6C42-82C3-DDB1-CE8AEBD086EB}"/>
              </a:ext>
            </a:extLst>
          </p:cNvPr>
          <p:cNvSpPr txBox="1">
            <a:spLocks noGrp="1"/>
          </p:cNvSpPr>
          <p:nvPr>
            <p:ph type="title"/>
          </p:nvPr>
        </p:nvSpPr>
        <p:spPr>
          <a:xfrm>
            <a:off x="716550" y="482202"/>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Algorithms</a:t>
            </a:r>
            <a:endParaRPr dirty="0"/>
          </a:p>
        </p:txBody>
      </p:sp>
      <p:sp>
        <p:nvSpPr>
          <p:cNvPr id="1594" name="Google Shape;1594;p30">
            <a:extLst>
              <a:ext uri="{FF2B5EF4-FFF2-40B4-BE49-F238E27FC236}">
                <a16:creationId xmlns:a16="http://schemas.microsoft.com/office/drawing/2014/main" id="{8904A3D0-93D0-FFF8-5AB0-0D6687D41A76}"/>
              </a:ext>
            </a:extLst>
          </p:cNvPr>
          <p:cNvSpPr txBox="1">
            <a:spLocks noGrp="1"/>
          </p:cNvSpPr>
          <p:nvPr>
            <p:ph type="subTitle" idx="1"/>
          </p:nvPr>
        </p:nvSpPr>
        <p:spPr>
          <a:xfrm>
            <a:off x="855308" y="1310027"/>
            <a:ext cx="6770601" cy="3089038"/>
          </a:xfrm>
          <a:prstGeom prst="rect">
            <a:avLst/>
          </a:prstGeom>
        </p:spPr>
        <p:txBody>
          <a:bodyPr spcFirstLastPara="1" wrap="square" lIns="91425" tIns="91425" rIns="91425" bIns="91425" anchor="t" anchorCtr="0">
            <a:noAutofit/>
          </a:bodyPr>
          <a:lstStyle/>
          <a:p>
            <a:endParaRPr lang="en-US" sz="1400" b="1" dirty="0"/>
          </a:p>
          <a:p>
            <a:r>
              <a:rPr lang="en-US" sz="1400" b="1" dirty="0"/>
              <a:t>Evolutionary Algorithms (EAs)</a:t>
            </a:r>
            <a:r>
              <a:rPr lang="en-US" sz="1400" dirty="0"/>
              <a:t> are a class of optimization and search</a:t>
            </a:r>
          </a:p>
          <a:p>
            <a:r>
              <a:rPr lang="en-US" sz="1400" dirty="0"/>
              <a:t>algorithms inspired by the principles of biological evolution—specifically</a:t>
            </a:r>
          </a:p>
          <a:p>
            <a:r>
              <a:rPr lang="en-US" sz="1400" dirty="0"/>
              <a:t>natural selection, reproduction, mutation, and survival of the fittest. They</a:t>
            </a:r>
          </a:p>
          <a:p>
            <a:r>
              <a:rPr lang="en-US" sz="1400" dirty="0"/>
              <a:t>operate on a </a:t>
            </a:r>
            <a:r>
              <a:rPr lang="en-US" sz="1400" b="1" dirty="0"/>
              <a:t>population of candidate solutions</a:t>
            </a:r>
            <a:r>
              <a:rPr lang="en-US" sz="1400" dirty="0"/>
              <a:t>, evaluate their</a:t>
            </a:r>
          </a:p>
          <a:p>
            <a:r>
              <a:rPr lang="en-US" sz="1400" dirty="0"/>
              <a:t>performance using a </a:t>
            </a:r>
            <a:r>
              <a:rPr lang="en-US" sz="1400" b="1" dirty="0"/>
              <a:t>fitness function</a:t>
            </a:r>
            <a:r>
              <a:rPr lang="en-US" sz="1400" dirty="0"/>
              <a:t>, and improve the population over</a:t>
            </a:r>
          </a:p>
          <a:p>
            <a:r>
              <a:rPr lang="en-US" sz="1400" dirty="0"/>
              <a:t>generations by applying evolutionary operators.</a:t>
            </a:r>
          </a:p>
          <a:p>
            <a:endParaRPr lang="en-US" sz="1400" dirty="0"/>
          </a:p>
          <a:p>
            <a:endParaRPr lang="en-US" sz="1400" dirty="0"/>
          </a:p>
          <a:p>
            <a:r>
              <a:rPr lang="en-US" sz="1400" dirty="0"/>
              <a:t>EAs are not a single technique but a </a:t>
            </a:r>
            <a:r>
              <a:rPr lang="en-US" sz="1400" b="1" dirty="0"/>
              <a:t>family of algorithms</a:t>
            </a:r>
            <a:r>
              <a:rPr lang="en-US" sz="1400" dirty="0"/>
              <a:t>, including Genetic</a:t>
            </a:r>
          </a:p>
          <a:p>
            <a:r>
              <a:rPr lang="en-US" sz="1400" dirty="0"/>
              <a:t>Algorithms (GA), Evolution Strategies (ES), Differential Evolution (DE), Genetic</a:t>
            </a:r>
          </a:p>
          <a:p>
            <a:r>
              <a:rPr lang="en-US" sz="1400" dirty="0"/>
              <a:t>Programming (GP), and others. Each follows the same overall evolutionary</a:t>
            </a:r>
          </a:p>
          <a:p>
            <a:r>
              <a:rPr lang="en-US" sz="1400" dirty="0"/>
              <a:t>cycle but differs in representation and operators.</a:t>
            </a:r>
          </a:p>
          <a:p>
            <a:endParaRPr lang="en-US" altLang="en-US" sz="1400" b="1" dirty="0">
              <a:solidFill>
                <a:schemeClr val="tx1"/>
              </a:solidFill>
              <a:latin typeface="Arial" panose="020B0604020202020204" pitchFamily="34" charset="0"/>
            </a:endParaRPr>
          </a:p>
          <a:p>
            <a:endParaRPr lang="en-US" altLang="en-US" sz="1400" b="1" dirty="0">
              <a:solidFill>
                <a:schemeClr val="tx1"/>
              </a:solidFill>
              <a:latin typeface="Open Sans" panose="020B0604020202020204" charset="0"/>
              <a:ea typeface="Open Sans" panose="020B0604020202020204" charset="0"/>
              <a:cs typeface="Open Sans" panose="020B0604020202020204" charset="0"/>
            </a:endParaRPr>
          </a:p>
          <a:p>
            <a:endParaRPr lang="en-US" altLang="en-US" b="1" dirty="0">
              <a:solidFill>
                <a:schemeClr val="tx1"/>
              </a:solidFill>
              <a:latin typeface="Arial" panose="020B0604020202020204" pitchFamily="34" charset="0"/>
            </a:endParaRPr>
          </a:p>
        </p:txBody>
      </p:sp>
      <p:grpSp>
        <p:nvGrpSpPr>
          <p:cNvPr id="1598" name="Google Shape;1598;p30">
            <a:extLst>
              <a:ext uri="{FF2B5EF4-FFF2-40B4-BE49-F238E27FC236}">
                <a16:creationId xmlns:a16="http://schemas.microsoft.com/office/drawing/2014/main" id="{66A8D001-DD37-42EE-2D19-8B80192AD93E}"/>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060B5059-0798-5EDD-53AA-6198FF9D1625}"/>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C7F6D5C7-C291-78E3-03A8-E6B9773C1802}"/>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E4195A7B-349A-46E5-D322-60B1199F5706}"/>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4D90AF4F-FC13-04A9-1E58-7B07EE26127E}"/>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125BDC41-6BDA-FD0A-AB73-D3B42F0F5C26}"/>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827B4A8F-3B8A-9C1D-87D0-43FDBE01277B}"/>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6F198DA4-B2BE-1EE4-5380-8DCC2939CBFF}"/>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A23387CC-AC31-4648-2D5A-AC9F93D0A6FD}"/>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0AEC6850-6D12-E827-4036-D283BA151780}"/>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AD476C68-4EDE-BC83-9CB7-F45E3D17D7A2}"/>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619;p31">
            <a:extLst>
              <a:ext uri="{FF2B5EF4-FFF2-40B4-BE49-F238E27FC236}">
                <a16:creationId xmlns:a16="http://schemas.microsoft.com/office/drawing/2014/main" id="{E9D7B6DD-0E66-FD58-5207-4C52E7B851E6}"/>
              </a:ext>
            </a:extLst>
          </p:cNvPr>
          <p:cNvSpPr txBox="1">
            <a:spLocks/>
          </p:cNvSpPr>
          <p:nvPr/>
        </p:nvSpPr>
        <p:spPr>
          <a:xfrm>
            <a:off x="855308" y="1121477"/>
            <a:ext cx="5320548"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IN" sz="1600" dirty="0"/>
              <a:t>Definition:</a:t>
            </a:r>
          </a:p>
        </p:txBody>
      </p:sp>
    </p:spTree>
    <p:extLst>
      <p:ext uri="{BB962C8B-B14F-4D97-AF65-F5344CB8AC3E}">
        <p14:creationId xmlns:p14="http://schemas.microsoft.com/office/powerpoint/2010/main" val="2480376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C09E6836-6127-41FC-3277-7AA403AA6C57}"/>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2079EA87-6C42-82C3-DDB1-CE8AEBD086EB}"/>
              </a:ext>
            </a:extLst>
          </p:cNvPr>
          <p:cNvSpPr txBox="1">
            <a:spLocks noGrp="1"/>
          </p:cNvSpPr>
          <p:nvPr>
            <p:ph type="title"/>
          </p:nvPr>
        </p:nvSpPr>
        <p:spPr>
          <a:xfrm>
            <a:off x="698263" y="468277"/>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Evolutionary Algorithms</a:t>
            </a:r>
            <a:endParaRPr dirty="0"/>
          </a:p>
        </p:txBody>
      </p:sp>
      <p:sp>
        <p:nvSpPr>
          <p:cNvPr id="1594" name="Google Shape;1594;p30">
            <a:extLst>
              <a:ext uri="{FF2B5EF4-FFF2-40B4-BE49-F238E27FC236}">
                <a16:creationId xmlns:a16="http://schemas.microsoft.com/office/drawing/2014/main" id="{8904A3D0-93D0-FFF8-5AB0-0D6687D41A76}"/>
              </a:ext>
            </a:extLst>
          </p:cNvPr>
          <p:cNvSpPr txBox="1">
            <a:spLocks noGrp="1"/>
          </p:cNvSpPr>
          <p:nvPr>
            <p:ph type="subTitle" idx="1"/>
          </p:nvPr>
        </p:nvSpPr>
        <p:spPr>
          <a:xfrm>
            <a:off x="790325" y="1106094"/>
            <a:ext cx="6770601" cy="3391640"/>
          </a:xfrm>
          <a:prstGeom prst="rect">
            <a:avLst/>
          </a:prstGeom>
        </p:spPr>
        <p:txBody>
          <a:bodyPr spcFirstLastPara="1" wrap="square" lIns="91425" tIns="91425" rIns="91425" bIns="91425" anchor="t" anchorCtr="0">
            <a:noAutofit/>
          </a:bodyPr>
          <a:lstStyle/>
          <a:p>
            <a:r>
              <a:rPr lang="en-US" sz="1400" dirty="0"/>
              <a:t>EAs rely on the principle of </a:t>
            </a:r>
            <a:r>
              <a:rPr lang="en-US" sz="1400" b="1" dirty="0"/>
              <a:t>“survival of the fittest,”</a:t>
            </a:r>
            <a:r>
              <a:rPr lang="en-US" sz="1400" dirty="0"/>
              <a:t> where better solutions</a:t>
            </a:r>
          </a:p>
          <a:p>
            <a:r>
              <a:rPr lang="en-US" sz="1400" dirty="0"/>
              <a:t>are more likely to pass their characteristics to future generations. Over</a:t>
            </a:r>
          </a:p>
          <a:p>
            <a:r>
              <a:rPr lang="en-US" sz="1400" dirty="0"/>
              <a:t>multiple generations, the population gradually </a:t>
            </a:r>
            <a:r>
              <a:rPr lang="en-US" sz="1400" b="1" dirty="0"/>
              <a:t>evolves toward optimal or</a:t>
            </a:r>
          </a:p>
          <a:p>
            <a:r>
              <a:rPr lang="en-US" sz="1400" b="1" dirty="0"/>
              <a:t>near-optimal solutions</a:t>
            </a:r>
            <a:r>
              <a:rPr lang="en-US" sz="1400" dirty="0"/>
              <a:t>, even when the problem is:</a:t>
            </a:r>
          </a:p>
          <a:p>
            <a:endParaRPr lang="en-US" sz="1400" dirty="0"/>
          </a:p>
          <a:p>
            <a:pPr marL="495300" indent="-342900">
              <a:buFont typeface="Arial" panose="020B0604020202020204" pitchFamily="34" charset="0"/>
              <a:buChar char="•"/>
            </a:pPr>
            <a:r>
              <a:rPr lang="en-US" sz="1400" dirty="0"/>
              <a:t>Nonlinear</a:t>
            </a:r>
          </a:p>
          <a:p>
            <a:pPr marL="495300" indent="-342900">
              <a:buFont typeface="Arial" panose="020B0604020202020204" pitchFamily="34" charset="0"/>
              <a:buChar char="•"/>
            </a:pPr>
            <a:r>
              <a:rPr lang="en-US" sz="1400" dirty="0"/>
              <a:t>High-dimensional</a:t>
            </a:r>
          </a:p>
          <a:p>
            <a:pPr marL="495300" indent="-342900">
              <a:buFont typeface="Arial" panose="020B0604020202020204" pitchFamily="34" charset="0"/>
              <a:buChar char="•"/>
            </a:pPr>
            <a:r>
              <a:rPr lang="en-US" sz="1400" dirty="0"/>
              <a:t>Multi-modal (many local optima)</a:t>
            </a:r>
          </a:p>
          <a:p>
            <a:pPr marL="495300" indent="-342900">
              <a:buFont typeface="Arial" panose="020B0604020202020204" pitchFamily="34" charset="0"/>
              <a:buChar char="•"/>
            </a:pPr>
            <a:r>
              <a:rPr lang="en-US" sz="1400" dirty="0"/>
              <a:t>Lacking derivative information</a:t>
            </a:r>
          </a:p>
          <a:p>
            <a:pPr marL="495300" indent="-342900">
              <a:buFont typeface="Arial" panose="020B0604020202020204" pitchFamily="34" charset="0"/>
              <a:buChar char="•"/>
            </a:pPr>
            <a:r>
              <a:rPr lang="en-US" sz="1400" dirty="0"/>
              <a:t>Noisy or uncertain</a:t>
            </a:r>
          </a:p>
          <a:p>
            <a:endParaRPr lang="en-US" sz="1400" dirty="0"/>
          </a:p>
          <a:p>
            <a:r>
              <a:rPr lang="en-US" sz="1400" dirty="0"/>
              <a:t>In essence, Evolutionary Algorithms provide a </a:t>
            </a:r>
            <a:r>
              <a:rPr lang="en-US" sz="1400" b="1" dirty="0"/>
              <a:t>robust, flexible, and adaptive</a:t>
            </a:r>
            <a:endParaRPr lang="en-US" sz="1400" dirty="0"/>
          </a:p>
          <a:p>
            <a:r>
              <a:rPr lang="en-US" sz="1400" dirty="0"/>
              <a:t>method for solving difficult optimization and search problems that traditional</a:t>
            </a:r>
          </a:p>
          <a:p>
            <a:r>
              <a:rPr lang="en-US" sz="1400" dirty="0"/>
              <a:t>methods struggle with.</a:t>
            </a:r>
          </a:p>
          <a:p>
            <a:endParaRPr lang="en-US" altLang="en-US" sz="1400" b="1" dirty="0">
              <a:solidFill>
                <a:schemeClr val="tx1"/>
              </a:solidFill>
              <a:latin typeface="Arial" panose="020B0604020202020204" pitchFamily="34" charset="0"/>
            </a:endParaRPr>
          </a:p>
          <a:p>
            <a:endParaRPr lang="en-US" altLang="en-US" sz="1400" b="1" dirty="0">
              <a:solidFill>
                <a:schemeClr val="tx1"/>
              </a:solidFill>
              <a:latin typeface="Open Sans" panose="020B0604020202020204" charset="0"/>
              <a:ea typeface="Open Sans" panose="020B0604020202020204" charset="0"/>
              <a:cs typeface="Open Sans" panose="020B0604020202020204" charset="0"/>
            </a:endParaRPr>
          </a:p>
          <a:p>
            <a:endParaRPr lang="en-US" altLang="en-US" b="1" dirty="0">
              <a:solidFill>
                <a:schemeClr val="tx1"/>
              </a:solidFill>
              <a:latin typeface="Arial" panose="020B0604020202020204" pitchFamily="34" charset="0"/>
            </a:endParaRPr>
          </a:p>
        </p:txBody>
      </p:sp>
      <p:grpSp>
        <p:nvGrpSpPr>
          <p:cNvPr id="1598" name="Google Shape;1598;p30">
            <a:extLst>
              <a:ext uri="{FF2B5EF4-FFF2-40B4-BE49-F238E27FC236}">
                <a16:creationId xmlns:a16="http://schemas.microsoft.com/office/drawing/2014/main" id="{66A8D001-DD37-42EE-2D19-8B80192AD93E}"/>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060B5059-0798-5EDD-53AA-6198FF9D1625}"/>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C7F6D5C7-C291-78E3-03A8-E6B9773C1802}"/>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E4195A7B-349A-46E5-D322-60B1199F5706}"/>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4D90AF4F-FC13-04A9-1E58-7B07EE26127E}"/>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125BDC41-6BDA-FD0A-AB73-D3B42F0F5C26}"/>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827B4A8F-3B8A-9C1D-87D0-43FDBE01277B}"/>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6F198DA4-B2BE-1EE4-5380-8DCC2939CBFF}"/>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A23387CC-AC31-4648-2D5A-AC9F93D0A6FD}"/>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0AEC6850-6D12-E827-4036-D283BA151780}"/>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AD476C68-4EDE-BC83-9CB7-F45E3D17D7A2}"/>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1935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8"/>
        <p:cNvGrpSpPr/>
        <p:nvPr/>
      </p:nvGrpSpPr>
      <p:grpSpPr>
        <a:xfrm>
          <a:off x="0" y="0"/>
          <a:ext cx="0" cy="0"/>
          <a:chOff x="0" y="0"/>
          <a:chExt cx="0" cy="0"/>
        </a:xfrm>
      </p:grpSpPr>
      <p:sp>
        <p:nvSpPr>
          <p:cNvPr id="1859" name="Google Shape;1859;p36"/>
          <p:cNvSpPr txBox="1">
            <a:spLocks noGrp="1"/>
          </p:cNvSpPr>
          <p:nvPr>
            <p:ph type="title"/>
          </p:nvPr>
        </p:nvSpPr>
        <p:spPr>
          <a:xfrm>
            <a:off x="3406365" y="1356303"/>
            <a:ext cx="3716053" cy="2426271"/>
          </a:xfrm>
          <a:prstGeom prst="rect">
            <a:avLst/>
          </a:prstGeom>
        </p:spPr>
        <p:txBody>
          <a:bodyPr spcFirstLastPara="1" wrap="square" lIns="91425" tIns="91425" rIns="91425" bIns="91425" anchor="b" anchorCtr="0">
            <a:noAutofit/>
          </a:bodyPr>
          <a:lstStyle/>
          <a:p>
            <a:pPr lvl="0"/>
            <a:r>
              <a:rPr lang="en-IN" dirty="0"/>
              <a:t>5. How Evolutionary Algorithms Solve Optimization Problems?</a:t>
            </a:r>
            <a:endParaRPr dirty="0"/>
          </a:p>
        </p:txBody>
      </p:sp>
      <p:sp>
        <p:nvSpPr>
          <p:cNvPr id="1861" name="Google Shape;1861;p36"/>
          <p:cNvSpPr/>
          <p:nvPr/>
        </p:nvSpPr>
        <p:spPr>
          <a:xfrm>
            <a:off x="1379929" y="891931"/>
            <a:ext cx="1664618" cy="3176204"/>
          </a:xfrm>
          <a:custGeom>
            <a:avLst/>
            <a:gdLst/>
            <a:ahLst/>
            <a:cxnLst/>
            <a:rect l="l" t="t" r="r" b="b"/>
            <a:pathLst>
              <a:path w="84552" h="161331" extrusionOk="0">
                <a:moveTo>
                  <a:pt x="1" y="1"/>
                </a:moveTo>
                <a:lnTo>
                  <a:pt x="1" y="161331"/>
                </a:lnTo>
                <a:lnTo>
                  <a:pt x="84551" y="161331"/>
                </a:lnTo>
                <a:lnTo>
                  <a:pt x="84551" y="1"/>
                </a:lnTo>
                <a:close/>
              </a:path>
            </a:pathLst>
          </a:custGeom>
          <a:solidFill>
            <a:srgbClr val="9090F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2" name="Google Shape;1862;p36"/>
          <p:cNvGrpSpPr/>
          <p:nvPr/>
        </p:nvGrpSpPr>
        <p:grpSpPr>
          <a:xfrm>
            <a:off x="1294751" y="709411"/>
            <a:ext cx="1834973" cy="3724678"/>
            <a:chOff x="5186401" y="494525"/>
            <a:chExt cx="1834973" cy="3724678"/>
          </a:xfrm>
        </p:grpSpPr>
        <p:sp>
          <p:nvSpPr>
            <p:cNvPr id="1863" name="Google Shape;1863;p36"/>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6"/>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65" name="Google Shape;1865;p36"/>
          <p:cNvPicPr preferRelativeResize="0"/>
          <p:nvPr/>
        </p:nvPicPr>
        <p:blipFill rotWithShape="1">
          <a:blip r:embed="rId3">
            <a:alphaModFix/>
          </a:blip>
          <a:srcRect l="10741" r="10741"/>
          <a:stretch/>
        </p:blipFill>
        <p:spPr>
          <a:xfrm>
            <a:off x="1379938" y="891935"/>
            <a:ext cx="1664599" cy="3176197"/>
          </a:xfrm>
          <a:prstGeom prst="rect">
            <a:avLst/>
          </a:prstGeom>
          <a:noFill/>
          <a:ln w="9525" cap="flat" cmpd="sng">
            <a:solidFill>
              <a:schemeClr val="dk1"/>
            </a:solidFill>
            <a:prstDash val="solid"/>
            <a:round/>
            <a:headEnd type="none" w="sm" len="sm"/>
            <a:tailEnd type="none" w="sm" len="sm"/>
          </a:ln>
        </p:spPr>
      </p:pic>
      <p:grpSp>
        <p:nvGrpSpPr>
          <p:cNvPr id="1866" name="Google Shape;1866;p36"/>
          <p:cNvGrpSpPr/>
          <p:nvPr/>
        </p:nvGrpSpPr>
        <p:grpSpPr>
          <a:xfrm>
            <a:off x="6407287" y="643786"/>
            <a:ext cx="2023472" cy="1536701"/>
            <a:chOff x="6935864" y="2236396"/>
            <a:chExt cx="1450309" cy="1101420"/>
          </a:xfrm>
        </p:grpSpPr>
        <p:sp>
          <p:nvSpPr>
            <p:cNvPr id="1867" name="Google Shape;1867;p36"/>
            <p:cNvSpPr/>
            <p:nvPr/>
          </p:nvSpPr>
          <p:spPr>
            <a:xfrm>
              <a:off x="7453832" y="2696876"/>
              <a:ext cx="878888" cy="640940"/>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6"/>
            <p:cNvSpPr/>
            <p:nvPr/>
          </p:nvSpPr>
          <p:spPr>
            <a:xfrm>
              <a:off x="7503251" y="2648105"/>
              <a:ext cx="878888" cy="108276"/>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6"/>
            <p:cNvSpPr/>
            <p:nvPr/>
          </p:nvSpPr>
          <p:spPr>
            <a:xfrm>
              <a:off x="7498568" y="2644070"/>
              <a:ext cx="887605" cy="11634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6"/>
            <p:cNvSpPr/>
            <p:nvPr/>
          </p:nvSpPr>
          <p:spPr>
            <a:xfrm>
              <a:off x="8230351" y="2680162"/>
              <a:ext cx="42215" cy="41495"/>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6"/>
            <p:cNvSpPr/>
            <p:nvPr/>
          </p:nvSpPr>
          <p:spPr>
            <a:xfrm>
              <a:off x="8295187" y="2680162"/>
              <a:ext cx="42215" cy="41495"/>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6"/>
            <p:cNvSpPr/>
            <p:nvPr/>
          </p:nvSpPr>
          <p:spPr>
            <a:xfrm>
              <a:off x="8166235" y="2680162"/>
              <a:ext cx="41495" cy="41495"/>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6"/>
            <p:cNvSpPr/>
            <p:nvPr/>
          </p:nvSpPr>
          <p:spPr>
            <a:xfrm>
              <a:off x="7502603" y="2756309"/>
              <a:ext cx="878888" cy="528702"/>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6"/>
            <p:cNvSpPr/>
            <p:nvPr/>
          </p:nvSpPr>
          <p:spPr>
            <a:xfrm>
              <a:off x="7498568" y="2752346"/>
              <a:ext cx="887605" cy="536698"/>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6"/>
            <p:cNvSpPr/>
            <p:nvPr/>
          </p:nvSpPr>
          <p:spPr>
            <a:xfrm>
              <a:off x="8104713" y="2863288"/>
              <a:ext cx="194580" cy="299470"/>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6"/>
            <p:cNvSpPr/>
            <p:nvPr/>
          </p:nvSpPr>
          <p:spPr>
            <a:xfrm>
              <a:off x="8100751" y="2858605"/>
              <a:ext cx="202576" cy="30883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6"/>
            <p:cNvSpPr/>
            <p:nvPr/>
          </p:nvSpPr>
          <p:spPr>
            <a:xfrm>
              <a:off x="8109396" y="2868619"/>
              <a:ext cx="187880" cy="290753"/>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6"/>
            <p:cNvSpPr/>
            <p:nvPr/>
          </p:nvSpPr>
          <p:spPr>
            <a:xfrm>
              <a:off x="8104713" y="2864585"/>
              <a:ext cx="197246" cy="298822"/>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6"/>
            <p:cNvSpPr/>
            <p:nvPr/>
          </p:nvSpPr>
          <p:spPr>
            <a:xfrm>
              <a:off x="8106082" y="2867971"/>
              <a:ext cx="187160" cy="294788"/>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6"/>
            <p:cNvSpPr/>
            <p:nvPr/>
          </p:nvSpPr>
          <p:spPr>
            <a:xfrm>
              <a:off x="8101399" y="2863504"/>
              <a:ext cx="196525" cy="303937"/>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6"/>
            <p:cNvSpPr/>
            <p:nvPr/>
          </p:nvSpPr>
          <p:spPr>
            <a:xfrm>
              <a:off x="7614913" y="2880001"/>
              <a:ext cx="413077" cy="8717"/>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6"/>
            <p:cNvSpPr/>
            <p:nvPr/>
          </p:nvSpPr>
          <p:spPr>
            <a:xfrm>
              <a:off x="7614913" y="2941451"/>
              <a:ext cx="150420" cy="8789"/>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6"/>
            <p:cNvSpPr/>
            <p:nvPr/>
          </p:nvSpPr>
          <p:spPr>
            <a:xfrm>
              <a:off x="7815400" y="2941451"/>
              <a:ext cx="181181" cy="8789"/>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6"/>
            <p:cNvSpPr/>
            <p:nvPr/>
          </p:nvSpPr>
          <p:spPr>
            <a:xfrm>
              <a:off x="7614913" y="3127891"/>
              <a:ext cx="268061" cy="8141"/>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6"/>
            <p:cNvSpPr/>
            <p:nvPr/>
          </p:nvSpPr>
          <p:spPr>
            <a:xfrm>
              <a:off x="7614913" y="3006287"/>
              <a:ext cx="416391" cy="8068"/>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6"/>
            <p:cNvSpPr/>
            <p:nvPr/>
          </p:nvSpPr>
          <p:spPr>
            <a:xfrm>
              <a:off x="7614913" y="3067738"/>
              <a:ext cx="137740" cy="8141"/>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6"/>
            <p:cNvSpPr/>
            <p:nvPr/>
          </p:nvSpPr>
          <p:spPr>
            <a:xfrm>
              <a:off x="7783991" y="3067738"/>
              <a:ext cx="243999" cy="8141"/>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6"/>
            <p:cNvSpPr/>
            <p:nvPr/>
          </p:nvSpPr>
          <p:spPr>
            <a:xfrm>
              <a:off x="7828728" y="2978192"/>
              <a:ext cx="1441" cy="25502"/>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6"/>
            <p:cNvSpPr/>
            <p:nvPr/>
          </p:nvSpPr>
          <p:spPr>
            <a:xfrm>
              <a:off x="6940547" y="2426870"/>
              <a:ext cx="670404" cy="47726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6"/>
            <p:cNvSpPr/>
            <p:nvPr/>
          </p:nvSpPr>
          <p:spPr>
            <a:xfrm>
              <a:off x="6935864" y="2422187"/>
              <a:ext cx="679121" cy="486558"/>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6"/>
            <p:cNvSpPr/>
            <p:nvPr/>
          </p:nvSpPr>
          <p:spPr>
            <a:xfrm>
              <a:off x="6978007" y="2390778"/>
              <a:ext cx="670332" cy="80253"/>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6"/>
            <p:cNvSpPr/>
            <p:nvPr/>
          </p:nvSpPr>
          <p:spPr>
            <a:xfrm>
              <a:off x="6973973" y="2386095"/>
              <a:ext cx="678401" cy="88969"/>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6"/>
            <p:cNvSpPr/>
            <p:nvPr/>
          </p:nvSpPr>
          <p:spPr>
            <a:xfrm>
              <a:off x="7049471" y="2413470"/>
              <a:ext cx="32850" cy="3285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6"/>
            <p:cNvSpPr/>
            <p:nvPr/>
          </p:nvSpPr>
          <p:spPr>
            <a:xfrm>
              <a:off x="7097594" y="2413470"/>
              <a:ext cx="33499" cy="3285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6"/>
            <p:cNvSpPr/>
            <p:nvPr/>
          </p:nvSpPr>
          <p:spPr>
            <a:xfrm>
              <a:off x="7001420" y="2413470"/>
              <a:ext cx="33427" cy="3285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6"/>
            <p:cNvSpPr/>
            <p:nvPr/>
          </p:nvSpPr>
          <p:spPr>
            <a:xfrm>
              <a:off x="6977359" y="2470958"/>
              <a:ext cx="670332" cy="393699"/>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6"/>
            <p:cNvSpPr/>
            <p:nvPr/>
          </p:nvSpPr>
          <p:spPr>
            <a:xfrm>
              <a:off x="6973325" y="2466996"/>
              <a:ext cx="679049" cy="402343"/>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6"/>
            <p:cNvSpPr/>
            <p:nvPr/>
          </p:nvSpPr>
          <p:spPr>
            <a:xfrm>
              <a:off x="7280720" y="2562521"/>
              <a:ext cx="284126" cy="8141"/>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6"/>
            <p:cNvSpPr/>
            <p:nvPr/>
          </p:nvSpPr>
          <p:spPr>
            <a:xfrm>
              <a:off x="7280720" y="2607978"/>
              <a:ext cx="105034" cy="8789"/>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6"/>
            <p:cNvSpPr/>
            <p:nvPr/>
          </p:nvSpPr>
          <p:spPr>
            <a:xfrm>
              <a:off x="7417091" y="2607978"/>
              <a:ext cx="126358" cy="8789"/>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6"/>
            <p:cNvSpPr/>
            <p:nvPr/>
          </p:nvSpPr>
          <p:spPr>
            <a:xfrm>
              <a:off x="7280720" y="2747015"/>
              <a:ext cx="185215" cy="8068"/>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6"/>
            <p:cNvSpPr/>
            <p:nvPr/>
          </p:nvSpPr>
          <p:spPr>
            <a:xfrm>
              <a:off x="7280720" y="2656101"/>
              <a:ext cx="286791" cy="8068"/>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6"/>
            <p:cNvSpPr/>
            <p:nvPr/>
          </p:nvSpPr>
          <p:spPr>
            <a:xfrm>
              <a:off x="7280720" y="2701558"/>
              <a:ext cx="96317" cy="8717"/>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6"/>
            <p:cNvSpPr/>
            <p:nvPr/>
          </p:nvSpPr>
          <p:spPr>
            <a:xfrm>
              <a:off x="7395695" y="2701558"/>
              <a:ext cx="169150" cy="8717"/>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6"/>
            <p:cNvSpPr/>
            <p:nvPr/>
          </p:nvSpPr>
          <p:spPr>
            <a:xfrm>
              <a:off x="7028147" y="2542494"/>
              <a:ext cx="203225" cy="2032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6"/>
            <p:cNvSpPr/>
            <p:nvPr/>
          </p:nvSpPr>
          <p:spPr>
            <a:xfrm>
              <a:off x="7024113" y="2538460"/>
              <a:ext cx="211221" cy="211942"/>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6"/>
            <p:cNvSpPr/>
            <p:nvPr/>
          </p:nvSpPr>
          <p:spPr>
            <a:xfrm>
              <a:off x="7019430" y="2543791"/>
              <a:ext cx="203225" cy="203297"/>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6"/>
            <p:cNvSpPr/>
            <p:nvPr/>
          </p:nvSpPr>
          <p:spPr>
            <a:xfrm>
              <a:off x="7015396" y="2539828"/>
              <a:ext cx="211293" cy="211870"/>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6"/>
            <p:cNvSpPr/>
            <p:nvPr/>
          </p:nvSpPr>
          <p:spPr>
            <a:xfrm>
              <a:off x="7465214" y="2255991"/>
              <a:ext cx="339525" cy="302136"/>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6"/>
            <p:cNvSpPr/>
            <p:nvPr/>
          </p:nvSpPr>
          <p:spPr>
            <a:xfrm>
              <a:off x="7479910" y="2252461"/>
              <a:ext cx="310132" cy="310132"/>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6"/>
            <p:cNvSpPr/>
            <p:nvPr/>
          </p:nvSpPr>
          <p:spPr>
            <a:xfrm>
              <a:off x="7489275" y="2240430"/>
              <a:ext cx="324828" cy="302064"/>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6"/>
            <p:cNvSpPr/>
            <p:nvPr/>
          </p:nvSpPr>
          <p:spPr>
            <a:xfrm>
              <a:off x="7496623" y="2236396"/>
              <a:ext cx="310781" cy="310204"/>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6"/>
            <p:cNvSpPr/>
            <p:nvPr/>
          </p:nvSpPr>
          <p:spPr>
            <a:xfrm>
              <a:off x="7602162" y="2236396"/>
              <a:ext cx="98335" cy="310204"/>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6"/>
            <p:cNvSpPr/>
            <p:nvPr/>
          </p:nvSpPr>
          <p:spPr>
            <a:xfrm>
              <a:off x="7507934" y="2339341"/>
              <a:ext cx="285422" cy="8068"/>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6"/>
            <p:cNvSpPr/>
            <p:nvPr/>
          </p:nvSpPr>
          <p:spPr>
            <a:xfrm>
              <a:off x="7507934" y="2440917"/>
              <a:ext cx="285422" cy="8717"/>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9"/>
        <p:cNvGrpSpPr/>
        <p:nvPr/>
      </p:nvGrpSpPr>
      <p:grpSpPr>
        <a:xfrm>
          <a:off x="0" y="0"/>
          <a:ext cx="0" cy="0"/>
          <a:chOff x="0" y="0"/>
          <a:chExt cx="0" cy="0"/>
        </a:xfrm>
      </p:grpSpPr>
      <p:sp>
        <p:nvSpPr>
          <p:cNvPr id="1920" name="Google Shape;1920;p37"/>
          <p:cNvSpPr txBox="1">
            <a:spLocks noGrp="1"/>
          </p:cNvSpPr>
          <p:nvPr>
            <p:ph type="title"/>
          </p:nvPr>
        </p:nvSpPr>
        <p:spPr>
          <a:xfrm>
            <a:off x="662450" y="517570"/>
            <a:ext cx="7710900" cy="572700"/>
          </a:xfrm>
          <a:prstGeom prst="rect">
            <a:avLst/>
          </a:prstGeom>
        </p:spPr>
        <p:txBody>
          <a:bodyPr spcFirstLastPara="1" wrap="square" lIns="91425" tIns="91425" rIns="91425" bIns="91425" anchor="t" anchorCtr="0">
            <a:noAutofit/>
          </a:bodyPr>
          <a:lstStyle/>
          <a:p>
            <a:pPr lvl="0"/>
            <a:r>
              <a:rPr lang="en-IN" dirty="0"/>
              <a:t>Evolutionary Optimization Process</a:t>
            </a:r>
            <a:endParaRPr dirty="0"/>
          </a:p>
        </p:txBody>
      </p:sp>
      <p:sp>
        <p:nvSpPr>
          <p:cNvPr id="4" name="Rectangle 2">
            <a:extLst>
              <a:ext uri="{FF2B5EF4-FFF2-40B4-BE49-F238E27FC236}">
                <a16:creationId xmlns:a16="http://schemas.microsoft.com/office/drawing/2014/main" id="{2CA965B8-889F-F95C-39D1-A7EF1F665A25}"/>
              </a:ext>
            </a:extLst>
          </p:cNvPr>
          <p:cNvSpPr>
            <a:spLocks noChangeArrowheads="1"/>
          </p:cNvSpPr>
          <p:nvPr/>
        </p:nvSpPr>
        <p:spPr bwMode="auto">
          <a:xfrm>
            <a:off x="585787" y="1585466"/>
            <a:ext cx="72937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Initialize</a:t>
            </a:r>
            <a:r>
              <a:rPr kumimoji="0" lang="en-US" altLang="en-US" sz="1800" b="0" i="0" u="none" strike="noStrike" cap="none" normalizeH="0" baseline="0" dirty="0">
                <a:ln>
                  <a:noFill/>
                </a:ln>
                <a:solidFill>
                  <a:schemeClr val="tx1"/>
                </a:solidFill>
                <a:effectLst/>
                <a:latin typeface="Arial" panose="020B0604020202020204" pitchFamily="34" charset="0"/>
              </a:rPr>
              <a:t> a population of multiple random solutions.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Evaluate fitness</a:t>
            </a:r>
            <a:r>
              <a:rPr kumimoji="0" lang="en-US" altLang="en-US" sz="1800" b="0" i="0" u="none" strike="noStrike" cap="none" normalizeH="0" baseline="0" dirty="0">
                <a:ln>
                  <a:noFill/>
                </a:ln>
                <a:solidFill>
                  <a:schemeClr val="tx1"/>
                </a:solidFill>
                <a:effectLst/>
                <a:latin typeface="Arial" panose="020B0604020202020204" pitchFamily="34" charset="0"/>
              </a:rPr>
              <a:t> of each solution using a fitness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Select</a:t>
            </a:r>
            <a:r>
              <a:rPr kumimoji="0" lang="en-US" altLang="en-US" sz="1800" b="0" i="0" u="none" strike="noStrike" cap="none" normalizeH="0" baseline="0" dirty="0">
                <a:ln>
                  <a:noFill/>
                </a:ln>
                <a:solidFill>
                  <a:schemeClr val="tx1"/>
                </a:solidFill>
                <a:effectLst/>
                <a:latin typeface="Arial" panose="020B0604020202020204" pitchFamily="34" charset="0"/>
              </a:rPr>
              <a:t> the best-performing individuals</a:t>
            </a:r>
            <a:r>
              <a:rPr lang="en-US" altLang="en-US" sz="1800" dirty="0">
                <a:solidFill>
                  <a:schemeClr val="tx1"/>
                </a:solidFill>
                <a:latin typeface="Arial" panose="020B0604020202020204" pitchFamily="34" charset="0"/>
              </a:rPr>
              <a:t> from the population.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Variation</a:t>
            </a: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800"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Crossover</a:t>
            </a:r>
            <a:r>
              <a:rPr kumimoji="0" lang="en-US" altLang="en-US" sz="1800" b="0" i="0" u="none" strike="noStrike" cap="none" normalizeH="0" baseline="0" dirty="0">
                <a:ln>
                  <a:noFill/>
                </a:ln>
                <a:solidFill>
                  <a:schemeClr val="tx1"/>
                </a:solidFill>
                <a:effectLst/>
                <a:latin typeface="Arial" panose="020B0604020202020204" pitchFamily="34" charset="0"/>
              </a:rPr>
              <a:t>: combine pairs to create a new solution</a:t>
            </a:r>
          </a:p>
          <a:p>
            <a:pPr lvl="1" eaLnBrk="0" fontAlgn="base" hangingPunct="0">
              <a:spcBef>
                <a:spcPct val="0"/>
              </a:spcBef>
              <a:spcAft>
                <a:spcPct val="0"/>
              </a:spcAft>
              <a:buClrTx/>
            </a:pPr>
            <a:r>
              <a:rPr kumimoji="0" lang="en-US" altLang="en-US" sz="1800" b="1" i="0" u="none" strike="noStrike" cap="none" normalizeH="0" baseline="0" dirty="0">
                <a:ln>
                  <a:noFill/>
                </a:ln>
                <a:solidFill>
                  <a:schemeClr val="tx1"/>
                </a:solidFill>
                <a:effectLst/>
                <a:latin typeface="Arial" panose="020B0604020202020204" pitchFamily="34" charset="0"/>
              </a:rPr>
              <a:t>	Mutation</a:t>
            </a:r>
            <a:r>
              <a:rPr kumimoji="0" lang="en-US" altLang="en-US" sz="1800" b="0" i="0" u="none" strike="noStrike" cap="none" normalizeH="0" baseline="0" dirty="0">
                <a:ln>
                  <a:noFill/>
                </a:ln>
                <a:solidFill>
                  <a:schemeClr val="tx1"/>
                </a:solidFill>
                <a:effectLst/>
                <a:latin typeface="Arial" panose="020B0604020202020204" pitchFamily="34" charset="0"/>
              </a:rPr>
              <a:t>: introduce small random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Replace</a:t>
            </a:r>
            <a:r>
              <a:rPr kumimoji="0" lang="en-US" altLang="en-US" sz="1800" b="0" i="0" u="none" strike="noStrike" cap="none" normalizeH="0" baseline="0" dirty="0">
                <a:ln>
                  <a:noFill/>
                </a:ln>
                <a:solidFill>
                  <a:schemeClr val="tx1"/>
                </a:solidFill>
                <a:effectLst/>
                <a:latin typeface="Arial" panose="020B0604020202020204" pitchFamily="34" charset="0"/>
              </a:rPr>
              <a:t> some or all of the old population with new individuals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Repeat until </a:t>
            </a:r>
            <a:r>
              <a:rPr kumimoji="0" lang="en-US" altLang="en-US" sz="1800" b="1" i="0" u="none" strike="noStrike" cap="none" normalizeH="0" baseline="0" dirty="0">
                <a:ln>
                  <a:noFill/>
                </a:ln>
                <a:solidFill>
                  <a:schemeClr val="tx1"/>
                </a:solidFill>
                <a:effectLst/>
                <a:latin typeface="Arial" panose="020B0604020202020204" pitchFamily="34" charset="0"/>
              </a:rPr>
              <a:t>optimal or near-optimal</a:t>
            </a:r>
            <a:r>
              <a:rPr kumimoji="0" lang="en-US" altLang="en-US" sz="1800" b="0" i="0" u="none" strike="noStrike" cap="none" normalizeH="0" baseline="0" dirty="0">
                <a:ln>
                  <a:noFill/>
                </a:ln>
                <a:solidFill>
                  <a:schemeClr val="tx1"/>
                </a:solidFill>
                <a:effectLst/>
                <a:latin typeface="Arial" panose="020B0604020202020204" pitchFamily="34" charset="0"/>
              </a:rPr>
              <a:t> solution is found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5"/>
        <p:cNvGrpSpPr/>
        <p:nvPr/>
      </p:nvGrpSpPr>
      <p:grpSpPr>
        <a:xfrm>
          <a:off x="0" y="0"/>
          <a:ext cx="0" cy="0"/>
          <a:chOff x="0" y="0"/>
          <a:chExt cx="0" cy="0"/>
        </a:xfrm>
      </p:grpSpPr>
      <p:sp>
        <p:nvSpPr>
          <p:cNvPr id="2" name="TextBox 1">
            <a:extLst>
              <a:ext uri="{FF2B5EF4-FFF2-40B4-BE49-F238E27FC236}">
                <a16:creationId xmlns:a16="http://schemas.microsoft.com/office/drawing/2014/main" id="{B19D5AC3-459D-6386-ECF4-526DBD242778}"/>
              </a:ext>
            </a:extLst>
          </p:cNvPr>
          <p:cNvSpPr txBox="1"/>
          <p:nvPr/>
        </p:nvSpPr>
        <p:spPr>
          <a:xfrm>
            <a:off x="835819" y="1293019"/>
            <a:ext cx="7400925" cy="3108543"/>
          </a:xfrm>
          <a:prstGeom prst="rect">
            <a:avLst/>
          </a:prstGeom>
          <a:noFill/>
        </p:spPr>
        <p:txBody>
          <a:bodyPr wrap="square" rtlCol="0">
            <a:spAutoFit/>
          </a:bodyPr>
          <a:lstStyle/>
          <a:p>
            <a:r>
              <a:rPr lang="en-IN" b="1" dirty="0"/>
              <a:t>Global Search Ability</a:t>
            </a:r>
          </a:p>
          <a:p>
            <a:r>
              <a:rPr lang="en-IN" dirty="0"/>
              <a:t>	A population-based approach explores many regions of the search space.</a:t>
            </a:r>
          </a:p>
          <a:p>
            <a:r>
              <a:rPr lang="en-IN" dirty="0"/>
              <a:t>	Helps avoid local minima.</a:t>
            </a:r>
          </a:p>
          <a:p>
            <a:endParaRPr lang="en-IN" dirty="0"/>
          </a:p>
          <a:p>
            <a:r>
              <a:rPr lang="en-IN" b="1" dirty="0"/>
              <a:t>Diversity Introduction</a:t>
            </a:r>
          </a:p>
          <a:p>
            <a:r>
              <a:rPr lang="en-IN" dirty="0"/>
              <a:t>	Mutation &amp; crossover prevent premature convergence.</a:t>
            </a:r>
          </a:p>
          <a:p>
            <a:endParaRPr lang="en-IN" dirty="0"/>
          </a:p>
          <a:p>
            <a:r>
              <a:rPr lang="en-IN" b="1" dirty="0"/>
              <a:t>Flexible for Any Problem Type</a:t>
            </a:r>
          </a:p>
          <a:p>
            <a:pPr lvl="1"/>
            <a:r>
              <a:rPr lang="en-IN" dirty="0"/>
              <a:t>	Works for:</a:t>
            </a:r>
          </a:p>
          <a:p>
            <a:pPr lvl="1"/>
            <a:r>
              <a:rPr lang="en-IN" dirty="0"/>
              <a:t>		Continuous &amp; discrete problems</a:t>
            </a:r>
          </a:p>
          <a:p>
            <a:pPr lvl="1"/>
            <a:r>
              <a:rPr lang="en-IN" dirty="0"/>
              <a:t>		Multi-objective optimization</a:t>
            </a:r>
          </a:p>
          <a:p>
            <a:r>
              <a:rPr lang="en-IN" dirty="0"/>
              <a:t>		Complex, non-smooth, non-differentiable spaces</a:t>
            </a:r>
          </a:p>
          <a:p>
            <a:r>
              <a:rPr lang="en-IN" b="1" dirty="0"/>
              <a:t>No Gradient Needed</a:t>
            </a:r>
          </a:p>
          <a:p>
            <a:r>
              <a:rPr lang="en-IN" dirty="0"/>
              <a:t>	EAs only require evaluation, not derivatives</a:t>
            </a:r>
          </a:p>
        </p:txBody>
      </p:sp>
      <p:sp>
        <p:nvSpPr>
          <p:cNvPr id="3" name="TextBox 2">
            <a:extLst>
              <a:ext uri="{FF2B5EF4-FFF2-40B4-BE49-F238E27FC236}">
                <a16:creationId xmlns:a16="http://schemas.microsoft.com/office/drawing/2014/main" id="{426A130A-D259-52C5-F357-48BDA2D94449}"/>
              </a:ext>
            </a:extLst>
          </p:cNvPr>
          <p:cNvSpPr txBox="1"/>
          <p:nvPr/>
        </p:nvSpPr>
        <p:spPr>
          <a:xfrm>
            <a:off x="642937" y="564356"/>
            <a:ext cx="6657975" cy="553998"/>
          </a:xfrm>
          <a:prstGeom prst="rect">
            <a:avLst/>
          </a:prstGeom>
          <a:noFill/>
        </p:spPr>
        <p:txBody>
          <a:bodyPr wrap="square" rtlCol="0">
            <a:spAutoFit/>
          </a:bodyPr>
          <a:lstStyle/>
          <a:p>
            <a:r>
              <a:rPr lang="en-IN" sz="3000" b="1" dirty="0">
                <a:latin typeface="Sora" panose="020B0604020202020204" charset="0"/>
                <a:cs typeface="Sora" panose="020B0604020202020204" charset="0"/>
              </a:rPr>
              <a:t>Why EAs Find Good Solutions?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D8838085-599D-40AC-DFC2-06034D4974BB}"/>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09F769B9-A507-7F50-56F6-1D83266132B1}"/>
              </a:ext>
            </a:extLst>
          </p:cNvPr>
          <p:cNvSpPr txBox="1">
            <a:spLocks noGrp="1"/>
          </p:cNvSpPr>
          <p:nvPr>
            <p:ph type="title"/>
          </p:nvPr>
        </p:nvSpPr>
        <p:spPr>
          <a:xfrm>
            <a:off x="4130550" y="1836108"/>
            <a:ext cx="4300200" cy="841800"/>
          </a:xfrm>
          <a:prstGeom prst="rect">
            <a:avLst/>
          </a:prstGeom>
        </p:spPr>
        <p:txBody>
          <a:bodyPr spcFirstLastPara="1" wrap="square" lIns="91425" tIns="91425" rIns="91425" bIns="91425" anchor="t" anchorCtr="0">
            <a:noAutofit/>
          </a:bodyPr>
          <a:lstStyle/>
          <a:p>
            <a:pPr lvl="0"/>
            <a:r>
              <a:rPr lang="en-US" sz="4000" dirty="0"/>
              <a:t>Practical Uses of Evolutionary Algorithms</a:t>
            </a:r>
          </a:p>
        </p:txBody>
      </p:sp>
      <p:sp>
        <p:nvSpPr>
          <p:cNvPr id="1290" name="Google Shape;1290;p28">
            <a:extLst>
              <a:ext uri="{FF2B5EF4-FFF2-40B4-BE49-F238E27FC236}">
                <a16:creationId xmlns:a16="http://schemas.microsoft.com/office/drawing/2014/main" id="{577F209C-EEDC-D831-7907-27DE1B954BD1}"/>
              </a:ext>
            </a:extLst>
          </p:cNvPr>
          <p:cNvSpPr txBox="1">
            <a:spLocks noGrp="1"/>
          </p:cNvSpPr>
          <p:nvPr>
            <p:ph type="title" idx="2"/>
          </p:nvPr>
        </p:nvSpPr>
        <p:spPr>
          <a:xfrm>
            <a:off x="4130550" y="994308"/>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grpSp>
        <p:nvGrpSpPr>
          <p:cNvPr id="1291" name="Google Shape;1291;p28">
            <a:extLst>
              <a:ext uri="{FF2B5EF4-FFF2-40B4-BE49-F238E27FC236}">
                <a16:creationId xmlns:a16="http://schemas.microsoft.com/office/drawing/2014/main" id="{9A4F54A7-4F7C-93D6-5129-3A02A1511513}"/>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658F86EB-922C-1B6B-C8C8-301DC7390FEF}"/>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B3AE3E50-3AEB-AEE4-C118-663A10227E56}"/>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2FA1BEC7-D835-92E9-1BF5-636355A18651}"/>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27F0FFFE-9CE9-72A6-DBA0-09DE1196F85C}"/>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B5DD6DFF-CFBA-85DC-414D-7251E1A7B147}"/>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71739C51-C762-EFC4-4E29-5772A71B879F}"/>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07F59AC1-59BE-0B01-4851-4E728185C123}"/>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39E6E277-27D6-DBDE-4A1A-67057E3AEAF2}"/>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FD1E5154-88EF-DA34-89DF-5E833BD8DE00}"/>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65214971-BB3B-0B05-4ADD-96EBB93E4128}"/>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DC1EC384-4D57-73C4-7330-D19602926ECB}"/>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271C97AE-B7DA-52F4-6C72-B10584FF6C6A}"/>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E837719E-1594-EEC7-59CB-84C082B50894}"/>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4A66C6D9-DD3D-F795-AB35-BE7DEEE8E48E}"/>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8BD9AEAC-46D1-11CA-9F76-4AFAB1CC0ED7}"/>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C725236A-87A1-3740-0372-746ABD1BA22B}"/>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F726626A-C00F-6DEF-CD09-456B33313540}"/>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835B9CAE-7CE3-0776-57DC-FD2EEA36E76D}"/>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B8F4A343-D0B8-D4FE-6B1A-F34B3D7DAC24}"/>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9C46E97D-CB25-31ED-1DBF-F1DE8369C8C5}"/>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71404A1D-097A-18AA-041C-1A357FF84C61}"/>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272B0F74-1436-B3E5-9CB4-00C671AECA4C}"/>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B9714F26-F880-02D7-B024-550D1B9F80C1}"/>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B62B922F-EEE3-263C-A5A4-56FDB3A39AFB}"/>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8327952A-30C7-D3FA-115E-CEB5B8D615DF}"/>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242423F3-57A3-1AC8-7BF7-2522F0B1FBD5}"/>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C0D69747-7BE1-E831-EE9E-727AF092A867}"/>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028D4AB0-C0AB-39E2-B48F-A981CC72256A}"/>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4DBD871A-6656-D852-CA4E-632C188F9C6C}"/>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51DE15DE-8CDB-B19B-457B-FA599746C685}"/>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5679C518-2499-C36C-1854-8270C2E7A5A0}"/>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5F9A77F1-05AB-C503-213A-EC43A1FC56E3}"/>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F4DC1FA0-7E29-3B78-ACB7-FC7B2B7641A0}"/>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A0406609-6C5D-DAA1-E1BC-342A4EF8FCBC}"/>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BAC3C63F-358F-F813-B8FE-4367AC0E88C2}"/>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85E807B0-AF86-2444-DCBD-7BC04E305F90}"/>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1E3C98F7-D532-56AE-5FF1-B2273B461057}"/>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2CC406BA-7DAD-AB15-BCE6-CA86EF4E5719}"/>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F105BF01-8F98-E2C2-90B7-EB90A8F3D40E}"/>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A96E3440-06D7-2589-EA19-07773E22E9DD}"/>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1B3190B9-CB65-07AF-B1C7-15561DE588E1}"/>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F9EE42A2-7187-85F4-AC9F-A8BDC7209796}"/>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6085E26B-BF52-9052-50B7-006446DE0611}"/>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924C67F2-6A28-2F72-8AF9-F668C6E08134}"/>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75ED50FE-D947-1F0E-9385-C7903E967265}"/>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44BB1494-F83F-EC1C-47C9-B3626F379019}"/>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7B12F50F-65DD-79A8-6705-D6E319C0C15A}"/>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3B64FEFB-DB0E-1C3C-5120-9DB6DC715EFC}"/>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9250A270-8427-46C0-8DD5-C1D609FEEDF2}"/>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DE2657C4-B564-FBB8-73E4-46BBF86798A1}"/>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4C9A939A-4E43-CF00-8A6F-0F4F2A7B7D62}"/>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7B7E3B7B-7C60-8D3A-08CD-1BBA9E58F4B7}"/>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7059A7B2-C27A-4786-02E8-34C57E4D8182}"/>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5C123F82-9233-7F9E-7753-ADE2FFF59A1F}"/>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9EFF9DB2-9331-0E24-30F0-E8949B8A0C60}"/>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A6528AD1-8350-7762-CDFC-F5C98DBCDA78}"/>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A017417E-1B9F-A8A2-CBF6-24321AC74CAD}"/>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0D16E826-F3AA-4F22-8B41-0DCA42BE79A3}"/>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594BC366-8A8C-8AB8-48B9-15D7D407BF6A}"/>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8FE64408-1FE6-F2D7-A118-1FD712F4B6DF}"/>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A5A5F539-5566-3FBD-3408-65D587470E27}"/>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D55AD72B-9121-2714-BD01-0533639E6EEC}"/>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69DD8CD1-46DB-113B-E82F-DE954FAF6D04}"/>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190FA489-1D09-CFB8-7495-EBDA0048B8A9}"/>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00CDADE4-0EF6-49F5-C16E-855B8014CB13}"/>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7CEEFE38-F3DD-6CB6-6E8D-6544BFA54DD4}"/>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83283CE0-F037-BFC2-CB1F-BDDE43B66EF6}"/>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2F8F0EDA-C241-AF65-0231-C03876DFE829}"/>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124CFF27-9654-38EB-DE05-6DB789CDE6C8}"/>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C7464791-A1EF-7DF5-671E-C2D49A67682D}"/>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19A51A82-66E5-4422-59D9-7F0C2AAC348E}"/>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5E2749EF-0CB8-E6E6-B938-37DAB86B17FB}"/>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A0454422-FB67-593D-34D0-C8079621C7A4}"/>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7AEDBB60-B405-5938-22BA-502952310EB0}"/>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E9B0FD48-41E5-E5ED-43F5-EEAFB153DC12}"/>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80976147-9404-0069-2082-2F3F1520F729}"/>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50582031-1DFE-3BBC-EB48-61803F44C176}"/>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5CD830C5-52A0-95A7-AF49-0354F3B9EF29}"/>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F5945794-F967-68B0-A526-80E7CF6CDBFC}"/>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39B08562-A9BF-9885-AE89-3464DCAB2D0F}"/>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66B51B43-9E9F-7AD6-9621-D08FEAA31A2E}"/>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E5882CC8-F805-AC0B-B737-6B0FBD72E3C9}"/>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51CD5C33-5047-E793-DD5D-2D242C4BCFF1}"/>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D20B7F44-1034-E018-43F1-2D5F012F8C00}"/>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8E4FBA34-70ED-40E8-1A7B-0A3FAE47D47F}"/>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8E040288-D848-4760-7D95-69146D42D491}"/>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88556B41-8C71-8866-E731-4D8025A14923}"/>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5FD1D52F-3032-861D-A8A3-3A31554ADBE9}"/>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34A92377-80F5-C691-7EB1-44C5D70A2A14}"/>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362D7C5C-328F-2EDA-DD3F-D2B058D52FE1}"/>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77F2BD33-BF75-95E1-C9A6-728098BBA2EE}"/>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2E4B0742-1AAE-CF8F-97AB-E321AE16D5A0}"/>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4659EF2E-ABD5-4763-F9A7-6D8B12D307B6}"/>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0C81B61E-D51E-B95E-2596-2A3DE5D00F7C}"/>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FEB1B62D-F298-1468-3011-FCA9062EFDEB}"/>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16FFD4E2-450E-8B3C-3DDD-2F9C2311A399}"/>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1558279A-EACB-1ED2-45B2-AA0124F471B9}"/>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E130C4E9-4F46-DD3E-0AD5-5C86B918A799}"/>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966B7243-DA64-CE52-031D-CC7FCFD5B9FC}"/>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354E8D1A-4B32-E199-FE42-C22D0C342CAB}"/>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DBCD9E6D-E606-770E-37DF-695E7EA86AAC}"/>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B85E2D1D-6560-53D7-593E-2E8BA2979A46}"/>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92C14CA6-9CF5-C93B-D0BE-D30DA3698B8F}"/>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64CBE3DE-4513-E356-4663-4A224BCD7CD0}"/>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2D41FC68-D4B1-FEB0-2C5D-CEB9B8929807}"/>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6A4D93F4-F654-0BC1-301C-0FBEC1DD2197}"/>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9B791152-F40A-D382-03AF-1555375BA6FF}"/>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6146C61B-FA2F-B3F6-751F-920FB093EF40}"/>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8D7B41D8-2E5D-6C8B-E36C-C70336AFE350}"/>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F17C6C96-61E5-6A53-9C42-086024DA1974}"/>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4BC3BFDC-BB08-0919-32E6-2340A631DBA7}"/>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5F67F846-003D-56FF-8907-2D3E28449266}"/>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B1068C3A-8A1F-35FC-92EF-FE7DF0D1310B}"/>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44B2BB9C-0BC6-C778-96CB-7DA5B925AC08}"/>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9640D6DC-3416-78BE-ACA1-2F797794450E}"/>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7307EBB2-CE05-F439-0BD3-25591CB7813E}"/>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A4431DAE-686A-A2C2-A2AC-722E935BD716}"/>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55ABA958-CC09-3ECB-C908-5CFFA6E22FCC}"/>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71A6AB63-2557-1317-A748-1263F07EA918}"/>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5C055FDD-BB23-4738-0B97-A0BD3ED15362}"/>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AEB07AF6-FF71-6FE0-FD0D-9ED3897903D9}"/>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868ABCF7-52CC-53D8-48C3-0E57646320EA}"/>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011A8B3E-5113-6713-2B3C-9042C04EE7A4}"/>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3B517258-81F9-A842-A11B-60998D3DD5C2}"/>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639B140B-8CA4-691B-34BE-280DF078CA84}"/>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4ABCEE9D-217C-CE88-A979-67210FDC4C6F}"/>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B2E8893D-7767-98EC-2344-5C5C499366CA}"/>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DC8E2A9C-4E2D-8024-F693-47B7C03D39D8}"/>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BCE203CC-0843-DCDB-9B22-FBF9E87E9663}"/>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B7A269B3-2B4A-B2C5-0578-B9592F8E3802}"/>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F94832EC-060A-0751-F08F-7C6839988FA2}"/>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6D0A8DAE-454D-78A0-A746-929705A4D743}"/>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775BBF8E-A526-73CA-FC42-F0A61501B4E8}"/>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8035E0E5-A884-A448-1CCE-3A9D44C4D47E}"/>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11536B39-4585-9913-7750-EDD7ECA06873}"/>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F56A2801-0199-2E27-5B46-34F9539FD036}"/>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BAA40995-C9A3-EBDD-5CE9-7133F418AB5C}"/>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60E5CE3C-D0D5-1116-07AF-571DC32C4687}"/>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C779A815-E395-5ACF-6706-2392FFEF8C57}"/>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AB359F44-4EBA-FD59-0F30-341B845E4A9B}"/>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31D5126E-C564-D2E0-4F0C-5E589E0824F4}"/>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BBDA2314-F92F-1957-6A4D-269BD2C7B1D0}"/>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0CF00468-FD73-9DE1-0E0C-08B9A10DC91C}"/>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7C0839C7-B66B-E995-9F51-1D30AA8D8557}"/>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1410F64E-5C3B-A975-2EE6-7F0B302F5EFB}"/>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F00271D4-787E-C5DC-0C56-7DB0429B4650}"/>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D252154D-46A1-EF22-E9E8-51C455AFC1B5}"/>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27E49C11-BB14-A8E6-9587-B6749DA5B3F9}"/>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9643AE98-6D78-944E-82C1-512271A09735}"/>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57861F34-4004-FB26-10F3-DFF02282D3BB}"/>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CE76C0A6-CA5D-E148-E281-69C67E6F2326}"/>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343344F0-A678-55A0-64A4-A8A6FAC8D4BB}"/>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45051EFF-FBBD-4D1B-3B58-7FA60D74BA43}"/>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E768C86F-710C-76CD-C46C-3595ED3F23D8}"/>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7105AFA5-2D6B-ED6B-6FCB-7EFE5AF50278}"/>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D0B05D66-144A-330C-CEAC-BE5EEB1524F2}"/>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E1432061-D7CB-765B-260C-69D832E0D93C}"/>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0C20BCA6-C507-E4F7-8F4B-04209DCE1549}"/>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9DD29CCC-00E3-B3DA-875F-6C7B3968B120}"/>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3E7F9454-3BEC-1D23-8683-1D31D13C2580}"/>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5C8B9C74-7D27-AF79-FA03-8822F511A5BB}"/>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68A57198-83B9-3374-F3F5-1941C217873E}"/>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697135B8-974A-910E-AE73-98F6D73EDED4}"/>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A440F61D-D9BD-0CC9-8DBF-AE83DAAA3655}"/>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1273B230-3DD0-ADC3-CF46-2C039C3BB928}"/>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B0825250-E0C5-C0D8-4993-2FAFBDD1A2E6}"/>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B472D6B6-538D-5A5B-0F42-043785A3C690}"/>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224DE4BF-9A13-CD47-C83D-163D22A522DC}"/>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1BA903F7-983F-418D-DFF3-7B3CC2BA3B27}"/>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8F2EE31F-EE26-8506-53BA-5E55A4B32D44}"/>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DE0DF591-6F9C-24CB-985C-4658276DC1CD}"/>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5BDF7ADF-3EBA-79D1-B872-DF58A80B5225}"/>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4C04974B-8B74-1BB8-F0AE-37009B799AB6}"/>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6FCECC3F-951A-45F3-85F7-45976DEB5C79}"/>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FE3DF9DB-26B3-9AB0-1AD4-4AB31E8BABC7}"/>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876BB646-057F-6A68-394E-027CD23C6525}"/>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BD1B5CF6-42CC-A2AB-865E-2CF60D651F8F}"/>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42A8A9B9-F06E-BEE5-B55D-C0AB91D5D5A8}"/>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C04E3296-BC38-B449-8345-3B9059BFA4F8}"/>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FADAE791-772B-63A3-41AE-4E324EAAE3E9}"/>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C808BDBC-A11F-7EEE-D319-13BA72118CC0}"/>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CBE5C88F-950E-9B0A-CA30-A966AE77F4CA}"/>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90C0ABEE-3525-532A-9804-0D1A0D8FA289}"/>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0169FF5A-5F4C-CE21-9EE6-77CD65E1A9D5}"/>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773F938B-B600-DB33-6A98-A8533BF0C844}"/>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7FFA863A-508B-C5EF-E2A0-7CC8C81E9A0A}"/>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6127BEB8-45E4-8309-CDA5-B5D33844D909}"/>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C55969ED-4F35-5664-D43A-923986F78D03}"/>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1576A3D3-6A4B-AD76-7077-95E6D478FE51}"/>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7CAE738A-18B8-0D14-635F-5240E0030390}"/>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D9357455-F86A-DD04-A9D3-F73E53880DA8}"/>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81E63092-6EDE-6EFB-6BE3-E9AD859C4180}"/>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14501739-F25C-D44F-B677-285F10AB9461}"/>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ECD153DC-C447-24DF-7BE7-E810D53DC558}"/>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EEFBA539-D58A-3FC6-AE32-E59893EF1789}"/>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97BF6C46-BC3C-5686-EB2C-41D7533FC06B}"/>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3C804EA0-FAF8-9DB6-8F7E-E56348685AEE}"/>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86CC8CC7-D4F1-ABB3-9B22-57FC7578E3EF}"/>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44AD157F-AD13-010E-4ECA-BEBABBC16823}"/>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2FE91330-360F-6C00-BBCE-7A1AF2AAE74A}"/>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C5491531-7022-547B-5290-1D3F3FBF5EA7}"/>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4632052E-2F05-12B8-88D9-C8E854757126}"/>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3A30A5DC-DEEB-6A47-AC34-DCC96220FEF7}"/>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13529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02658E27-3D71-89E0-B0E9-7FA1122D55CB}"/>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24CF650E-4FBB-DCA6-366A-B07A8B4F1D85}"/>
              </a:ext>
            </a:extLst>
          </p:cNvPr>
          <p:cNvSpPr txBox="1">
            <a:spLocks noGrp="1"/>
          </p:cNvSpPr>
          <p:nvPr>
            <p:ph type="title"/>
          </p:nvPr>
        </p:nvSpPr>
        <p:spPr>
          <a:xfrm>
            <a:off x="698263" y="468277"/>
            <a:ext cx="7710900" cy="572700"/>
          </a:xfrm>
          <a:prstGeom prst="rect">
            <a:avLst/>
          </a:prstGeom>
        </p:spPr>
        <p:txBody>
          <a:bodyPr spcFirstLastPara="1" wrap="square" lIns="91425" tIns="91425" rIns="91425" bIns="91425" anchor="t" anchorCtr="0">
            <a:noAutofit/>
          </a:bodyPr>
          <a:lstStyle/>
          <a:p>
            <a:pPr lvl="0"/>
            <a:r>
              <a:rPr lang="en-US" sz="1800" dirty="0"/>
              <a:t>EVOLUTIONARY ALGORITHM FOR DISCOVERING ANTI-VIRAL MEDICINES</a:t>
            </a:r>
            <a:endParaRPr sz="1800" dirty="0"/>
          </a:p>
        </p:txBody>
      </p:sp>
      <p:sp>
        <p:nvSpPr>
          <p:cNvPr id="1594" name="Google Shape;1594;p30">
            <a:extLst>
              <a:ext uri="{FF2B5EF4-FFF2-40B4-BE49-F238E27FC236}">
                <a16:creationId xmlns:a16="http://schemas.microsoft.com/office/drawing/2014/main" id="{6A0440C4-201F-54F6-5B77-84DED3361C7C}"/>
              </a:ext>
            </a:extLst>
          </p:cNvPr>
          <p:cNvSpPr txBox="1">
            <a:spLocks noGrp="1"/>
          </p:cNvSpPr>
          <p:nvPr>
            <p:ph type="subTitle" idx="1"/>
          </p:nvPr>
        </p:nvSpPr>
        <p:spPr>
          <a:xfrm>
            <a:off x="659962" y="1421550"/>
            <a:ext cx="6770601" cy="3391640"/>
          </a:xfrm>
          <a:prstGeom prst="rect">
            <a:avLst/>
          </a:prstGeom>
        </p:spPr>
        <p:txBody>
          <a:bodyPr spcFirstLastPara="1" wrap="square" lIns="91425" tIns="91425" rIns="91425" bIns="91425" anchor="t" anchorCtr="0">
            <a:noAutofit/>
          </a:bodyPr>
          <a:lstStyle/>
          <a:p>
            <a:r>
              <a:rPr lang="en-US" sz="1400" dirty="0"/>
              <a:t>Using Evolutionary Algorithms to Design Anti-Viral Proteins</a:t>
            </a:r>
          </a:p>
          <a:p>
            <a:endParaRPr lang="en-US" sz="1400" dirty="0"/>
          </a:p>
          <a:p>
            <a:r>
              <a:rPr lang="en-US" sz="1400" dirty="0"/>
              <a:t>Researchers led by Ph.D. Jeroen </a:t>
            </a:r>
            <a:r>
              <a:rPr lang="en-US" sz="1400" dirty="0" err="1"/>
              <a:t>Methorst</a:t>
            </a:r>
            <a:r>
              <a:rPr lang="en-US" sz="1400" dirty="0"/>
              <a:t> created a system that designs new proteins for medicine. It evaluates whether a small, 20–amino acid protein can recognize and break a virus’s curved membrane.</a:t>
            </a:r>
          </a:p>
          <a:p>
            <a:endParaRPr lang="en-US" sz="1400" dirty="0"/>
          </a:p>
          <a:p>
            <a:r>
              <a:rPr lang="en-US" sz="1400" dirty="0"/>
              <a:t>An evolutionary algorithm generates many candidate molecules, crossbreeds the best ones, and improves them over 20–30 generations. A physics-based simulator scores each molecule and feeds the top performers back into the cycle.</a:t>
            </a:r>
          </a:p>
          <a:p>
            <a:endParaRPr lang="en-US" sz="1400" dirty="0"/>
          </a:p>
          <a:p>
            <a:r>
              <a:rPr lang="en-US" sz="1400" dirty="0"/>
              <a:t>After about 25 generations, the best GA-designed molecule was lab-tested in Germany, where it successfully recognized and destroyed real viruses.</a:t>
            </a:r>
          </a:p>
        </p:txBody>
      </p:sp>
      <p:grpSp>
        <p:nvGrpSpPr>
          <p:cNvPr id="1598" name="Google Shape;1598;p30">
            <a:extLst>
              <a:ext uri="{FF2B5EF4-FFF2-40B4-BE49-F238E27FC236}">
                <a16:creationId xmlns:a16="http://schemas.microsoft.com/office/drawing/2014/main" id="{0DBE2EEE-0524-674B-AD30-C50F73A9A388}"/>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B73DA3E5-2016-8DB4-FA59-1127AE63AB37}"/>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3D8AB1E1-4DEA-D78B-43FB-FA694EBA5777}"/>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E1137916-3368-8A58-031B-F0CDA34FA00E}"/>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D6907016-3E7D-D9ED-1BD0-8038C8BE4EDF}"/>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5AB14277-431E-3B21-2E77-26C6B058464E}"/>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23EC3B7F-F498-4388-2BC5-723616DB2B13}"/>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4A1D2CF3-CA82-C153-98FA-8ECC6AB4397D}"/>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50B24DE1-63E5-D067-CB18-0ED601D05398}"/>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97B14FE7-BA90-FACD-37EC-B71E1C46CF90}"/>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2BDCDF36-2782-5C63-9466-A4F349CDB9C9}"/>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38137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0D06F941-9983-0B54-3D61-2CA7E6F5F891}"/>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7FC0FA56-6727-C2BF-B001-BF0B8C4D6F0B}"/>
              </a:ext>
            </a:extLst>
          </p:cNvPr>
          <p:cNvSpPr txBox="1">
            <a:spLocks noGrp="1"/>
          </p:cNvSpPr>
          <p:nvPr>
            <p:ph type="title"/>
          </p:nvPr>
        </p:nvSpPr>
        <p:spPr>
          <a:xfrm>
            <a:off x="698263" y="468277"/>
            <a:ext cx="7710900" cy="572700"/>
          </a:xfrm>
          <a:prstGeom prst="rect">
            <a:avLst/>
          </a:prstGeom>
        </p:spPr>
        <p:txBody>
          <a:bodyPr spcFirstLastPara="1" wrap="square" lIns="91425" tIns="91425" rIns="91425" bIns="91425" anchor="t" anchorCtr="0">
            <a:noAutofit/>
          </a:bodyPr>
          <a:lstStyle/>
          <a:p>
            <a:pPr lvl="0"/>
            <a:r>
              <a:rPr lang="en-US" sz="1800" dirty="0"/>
              <a:t>EVOLUTIONARY ALGORITHM FOR DISCOVERING ANTI-VIRAL MEDICINES</a:t>
            </a:r>
            <a:endParaRPr sz="1800" dirty="0"/>
          </a:p>
        </p:txBody>
      </p:sp>
      <p:sp>
        <p:nvSpPr>
          <p:cNvPr id="1594" name="Google Shape;1594;p30">
            <a:extLst>
              <a:ext uri="{FF2B5EF4-FFF2-40B4-BE49-F238E27FC236}">
                <a16:creationId xmlns:a16="http://schemas.microsoft.com/office/drawing/2014/main" id="{B3E40FA3-3599-54EB-0DC7-1440ED85A9F0}"/>
              </a:ext>
            </a:extLst>
          </p:cNvPr>
          <p:cNvSpPr txBox="1">
            <a:spLocks noGrp="1"/>
          </p:cNvSpPr>
          <p:nvPr>
            <p:ph type="subTitle" idx="1"/>
          </p:nvPr>
        </p:nvSpPr>
        <p:spPr>
          <a:xfrm>
            <a:off x="136637" y="1186720"/>
            <a:ext cx="6120736" cy="3391640"/>
          </a:xfrm>
          <a:prstGeom prst="rect">
            <a:avLst/>
          </a:prstGeom>
        </p:spPr>
        <p:txBody>
          <a:bodyPr spcFirstLastPara="1" wrap="square" lIns="91425" tIns="91425" rIns="91425" bIns="91425" anchor="t" anchorCtr="0">
            <a:noAutofit/>
          </a:bodyPr>
          <a:lstStyle/>
          <a:p>
            <a:r>
              <a:rPr lang="en-US" sz="1400" dirty="0"/>
              <a:t>The discovery of new materials often requires large statistical datasets, which are not always available. Genetic Algorithms can partially overcome this limitation by generating meaningful and unbiased synthetic data from the limited information we have, but they tend to be slow and sometimes inaccurate. To enhance their performance, an “on-the-fly” machine learning model can be used, where the model is trained and updated in real time as new data is produced. </a:t>
            </a:r>
          </a:p>
          <a:p>
            <a:r>
              <a:rPr lang="en-US" sz="1400" dirty="0"/>
              <a:t>	</a:t>
            </a:r>
          </a:p>
          <a:p>
            <a:r>
              <a:rPr lang="en-US" sz="1400" dirty="0"/>
              <a:t>This approach serves as a fast and computationally efficient energy predictor that works alongside converging genetic algorithms. By combining the strengths of ML and GAs, we achieve faster, more accurate, and more efficient optimization. This hybrid method has become valuable in accelerated materials discovery, especially for identifying stable nanoparticle alloys, discovering binary alloy particles.</a:t>
            </a:r>
          </a:p>
        </p:txBody>
      </p:sp>
      <p:grpSp>
        <p:nvGrpSpPr>
          <p:cNvPr id="1598" name="Google Shape;1598;p30">
            <a:extLst>
              <a:ext uri="{FF2B5EF4-FFF2-40B4-BE49-F238E27FC236}">
                <a16:creationId xmlns:a16="http://schemas.microsoft.com/office/drawing/2014/main" id="{DFCA2814-ACA6-5CD8-938A-8316A7616107}"/>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10CFA121-4BDD-3703-B3F3-847B127FE9BA}"/>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2BEF0346-76F2-46A5-9F2D-4615EC3A246C}"/>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D48180D7-6D29-8A47-17FE-8F5A241A4110}"/>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B81CB9D5-5A2B-11D7-06E0-0BB464006179}"/>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ED3F7C97-5703-8DEC-32A3-9F0C168B1345}"/>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758B6491-571C-565D-9616-BE07E2BF7583}"/>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0A7AB562-E088-B140-4D63-2D9ABBAA43B1}"/>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8DBD322C-58DC-A3A1-DE60-E249161BA109}"/>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840056E7-D3A9-4962-ED93-C0C6FC406F52}"/>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0237EF62-5D8C-BD56-11E7-F927B4E5800E}"/>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asted-movie.png" descr="pasted-movie.png">
            <a:extLst>
              <a:ext uri="{FF2B5EF4-FFF2-40B4-BE49-F238E27FC236}">
                <a16:creationId xmlns:a16="http://schemas.microsoft.com/office/drawing/2014/main" id="{18EC2C84-9893-398F-E571-F1A5D0400B35}"/>
              </a:ext>
            </a:extLst>
          </p:cNvPr>
          <p:cNvPicPr>
            <a:picLocks noChangeAspect="1"/>
          </p:cNvPicPr>
          <p:nvPr/>
        </p:nvPicPr>
        <p:blipFill>
          <a:blip r:embed="rId3"/>
          <a:stretch>
            <a:fillRect/>
          </a:stretch>
        </p:blipFill>
        <p:spPr>
          <a:xfrm>
            <a:off x="6262127" y="897262"/>
            <a:ext cx="2745236" cy="1601388"/>
          </a:xfrm>
          <a:prstGeom prst="rect">
            <a:avLst/>
          </a:prstGeom>
          <a:ln w="12700">
            <a:miter lim="400000"/>
          </a:ln>
        </p:spPr>
      </p:pic>
      <p:pic>
        <p:nvPicPr>
          <p:cNvPr id="4" name="Unknown.jpeg" descr="Unknown.jpeg">
            <a:extLst>
              <a:ext uri="{FF2B5EF4-FFF2-40B4-BE49-F238E27FC236}">
                <a16:creationId xmlns:a16="http://schemas.microsoft.com/office/drawing/2014/main" id="{8EE82FBA-D854-46D5-C023-315E026C6887}"/>
              </a:ext>
            </a:extLst>
          </p:cNvPr>
          <p:cNvPicPr>
            <a:picLocks noChangeAspect="1"/>
          </p:cNvPicPr>
          <p:nvPr/>
        </p:nvPicPr>
        <p:blipFill>
          <a:blip r:embed="rId4"/>
          <a:stretch>
            <a:fillRect/>
          </a:stretch>
        </p:blipFill>
        <p:spPr>
          <a:xfrm>
            <a:off x="6186498" y="2676297"/>
            <a:ext cx="2896494" cy="1569941"/>
          </a:xfrm>
          <a:prstGeom prst="rect">
            <a:avLst/>
          </a:prstGeom>
          <a:ln w="12700">
            <a:miter lim="400000"/>
          </a:ln>
        </p:spPr>
      </p:pic>
    </p:spTree>
    <p:extLst>
      <p:ext uri="{BB962C8B-B14F-4D97-AF65-F5344CB8AC3E}">
        <p14:creationId xmlns:p14="http://schemas.microsoft.com/office/powerpoint/2010/main" val="934123833"/>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379</TotalTime>
  <Words>1589</Words>
  <Application>Microsoft Office PowerPoint</Application>
  <PresentationFormat>On-screen Show (16:9)</PresentationFormat>
  <Paragraphs>214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Sora</vt:lpstr>
      <vt:lpstr>Open Sans</vt:lpstr>
      <vt:lpstr>Wingdings</vt:lpstr>
      <vt:lpstr>Arial</vt:lpstr>
      <vt:lpstr>Software Engineering Business Plan by Slidesgo</vt:lpstr>
      <vt:lpstr>Evolutionary Optimization, Learning and Adaptive Systems  (EvOLve)</vt:lpstr>
      <vt:lpstr>Table of contents</vt:lpstr>
      <vt:lpstr>Basics of Optimization Problems</vt:lpstr>
      <vt:lpstr>Basics of Optimization Problems</vt:lpstr>
      <vt:lpstr>Basics of Optimization Problems</vt:lpstr>
      <vt:lpstr>Optimization Algorithms</vt:lpstr>
      <vt:lpstr>Optimization Algorithms</vt:lpstr>
      <vt:lpstr>Optimization Algorithms</vt:lpstr>
      <vt:lpstr>Optimization Algorithms</vt:lpstr>
      <vt:lpstr>Evolutionary Computing</vt:lpstr>
      <vt:lpstr>Evolutionary Computing</vt:lpstr>
      <vt:lpstr>Evolutionary Computing</vt:lpstr>
      <vt:lpstr>Evolutionary Computing</vt:lpstr>
      <vt:lpstr>Evolutionary Computing</vt:lpstr>
      <vt:lpstr>Evolutionary Algorithms</vt:lpstr>
      <vt:lpstr>Evolutionary Algorithms</vt:lpstr>
      <vt:lpstr>Evolutionary Algorithms</vt:lpstr>
      <vt:lpstr>5. How Evolutionary Algorithms Solve Optimization Problems?</vt:lpstr>
      <vt:lpstr>Evolutionary Optimization Process</vt:lpstr>
      <vt:lpstr>PowerPoint Presentation</vt:lpstr>
      <vt:lpstr>Practical Uses of Evolutionary Algorithms</vt:lpstr>
      <vt:lpstr>EVOLUTIONARY ALGORITHM FOR DISCOVERING ANTI-VIRAL MEDICINES</vt:lpstr>
      <vt:lpstr>EVOLUTIONARY ALGORITHM FOR DISCOVERING ANTI-VIRAL MEDICINES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Darun RG</dc:creator>
  <cp:lastModifiedBy>Darun RG</cp:lastModifiedBy>
  <cp:revision>34</cp:revision>
  <dcterms:modified xsi:type="dcterms:W3CDTF">2025-12-03T13:08:55Z</dcterms:modified>
</cp:coreProperties>
</file>